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6852" autoAdjust="0"/>
  </p:normalViewPr>
  <p:slideViewPr>
    <p:cSldViewPr snapToGrid="0">
      <p:cViewPr varScale="1">
        <p:scale>
          <a:sx n="52" d="100"/>
          <a:sy n="52" d="100"/>
        </p:scale>
        <p:origin x="28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13986C-E0C2-420D-96E3-4830DEBC51FC}" type="doc">
      <dgm:prSet loTypeId="urn:microsoft.com/office/officeart/2005/8/layout/process5" loCatId="process" qsTypeId="urn:microsoft.com/office/officeart/2005/8/quickstyle/simple3" qsCatId="simple" csTypeId="urn:microsoft.com/office/officeart/2005/8/colors/colorful4" csCatId="colorful" phldr="1"/>
      <dgm:spPr/>
      <dgm:t>
        <a:bodyPr/>
        <a:lstStyle/>
        <a:p>
          <a:endParaRPr lang="en-IN"/>
        </a:p>
      </dgm:t>
    </dgm:pt>
    <dgm:pt modelId="{C1FDF77C-784A-4A2B-A918-2F2AD3E5FF89}">
      <dgm:prSet phldrT="[Text]" phldr="0"/>
      <dgm:spPr/>
      <dgm:t>
        <a:bodyPr/>
        <a:lstStyle/>
        <a:p>
          <a:r>
            <a:rPr lang="en-IN" dirty="0"/>
            <a:t>Landsat B3+B5</a:t>
          </a:r>
        </a:p>
      </dgm:t>
    </dgm:pt>
    <dgm:pt modelId="{2625CF2F-6A2F-4464-9EAE-0825379D0AE5}" type="parTrans" cxnId="{EFEFF3AD-B6A1-4DB8-8BF2-DE9D4F363F12}">
      <dgm:prSet/>
      <dgm:spPr/>
      <dgm:t>
        <a:bodyPr/>
        <a:lstStyle/>
        <a:p>
          <a:endParaRPr lang="en-IN"/>
        </a:p>
      </dgm:t>
    </dgm:pt>
    <dgm:pt modelId="{5AD7C0E6-A8C1-4A1B-99E2-0F0452CC61DE}" type="sibTrans" cxnId="{EFEFF3AD-B6A1-4DB8-8BF2-DE9D4F363F12}">
      <dgm:prSet/>
      <dgm:spPr/>
      <dgm:t>
        <a:bodyPr/>
        <a:lstStyle/>
        <a:p>
          <a:endParaRPr lang="en-IN"/>
        </a:p>
      </dgm:t>
    </dgm:pt>
    <dgm:pt modelId="{31495753-D9CE-4B6A-8F7E-9D3306C94ED5}">
      <dgm:prSet phldrT="[Text]" phldr="0"/>
      <dgm:spPr/>
      <dgm:t>
        <a:bodyPr/>
        <a:lstStyle/>
        <a:p>
          <a:r>
            <a:rPr lang="en-IN" dirty="0"/>
            <a:t>NDWI Calculation</a:t>
          </a:r>
          <a:br>
            <a:rPr lang="en-IN" dirty="0"/>
          </a:br>
          <a:r>
            <a:rPr lang="en-IN" dirty="0"/>
            <a:t>(Green - NIR) / (Green + NIR)</a:t>
          </a:r>
        </a:p>
      </dgm:t>
    </dgm:pt>
    <dgm:pt modelId="{B3B8EC49-2AA7-4A42-B165-4636A6E24511}" type="parTrans" cxnId="{0D2A5EF1-D284-46C0-AC76-391F6995E81A}">
      <dgm:prSet/>
      <dgm:spPr/>
      <dgm:t>
        <a:bodyPr/>
        <a:lstStyle/>
        <a:p>
          <a:endParaRPr lang="en-IN"/>
        </a:p>
      </dgm:t>
    </dgm:pt>
    <dgm:pt modelId="{8BCCAE58-35A6-4B52-99E5-210724F6B499}" type="sibTrans" cxnId="{0D2A5EF1-D284-46C0-AC76-391F6995E81A}">
      <dgm:prSet/>
      <dgm:spPr/>
      <dgm:t>
        <a:bodyPr/>
        <a:lstStyle/>
        <a:p>
          <a:endParaRPr lang="en-IN"/>
        </a:p>
      </dgm:t>
    </dgm:pt>
    <dgm:pt modelId="{11FCDCCE-4D89-4659-9865-F8CDA1C97136}">
      <dgm:prSet phldrT="[Text]" phldr="0"/>
      <dgm:spPr/>
      <dgm:t>
        <a:bodyPr/>
        <a:lstStyle/>
        <a:p>
          <a:r>
            <a:rPr lang="en-IN" dirty="0"/>
            <a:t>AOI Clipping</a:t>
          </a:r>
          <a:br>
            <a:rPr lang="en-IN" dirty="0"/>
          </a:br>
          <a:r>
            <a:rPr lang="en-IN" dirty="0"/>
            <a:t>Focus on costal zone</a:t>
          </a:r>
        </a:p>
      </dgm:t>
    </dgm:pt>
    <dgm:pt modelId="{B348952B-30BD-42B2-8C33-65B4842D62FE}" type="parTrans" cxnId="{2950FA39-7AB2-4A31-82D2-D7F51DFA385B}">
      <dgm:prSet/>
      <dgm:spPr/>
      <dgm:t>
        <a:bodyPr/>
        <a:lstStyle/>
        <a:p>
          <a:endParaRPr lang="en-IN"/>
        </a:p>
      </dgm:t>
    </dgm:pt>
    <dgm:pt modelId="{F7515849-BC60-487E-B9E7-B07CF114CB89}" type="sibTrans" cxnId="{2950FA39-7AB2-4A31-82D2-D7F51DFA385B}">
      <dgm:prSet/>
      <dgm:spPr/>
      <dgm:t>
        <a:bodyPr/>
        <a:lstStyle/>
        <a:p>
          <a:endParaRPr lang="en-IN"/>
        </a:p>
      </dgm:t>
    </dgm:pt>
    <dgm:pt modelId="{69F87418-374D-4261-9D32-4FE9EDD004AC}">
      <dgm:prSet/>
      <dgm:spPr/>
      <dgm:t>
        <a:bodyPr/>
        <a:lstStyle/>
        <a:p>
          <a:r>
            <a:rPr lang="en-IN" dirty="0" err="1"/>
            <a:t>NoData</a:t>
          </a:r>
          <a:r>
            <a:rPr lang="en-IN" dirty="0"/>
            <a:t> Filling</a:t>
          </a:r>
          <a:br>
            <a:rPr lang="en-IN" dirty="0"/>
          </a:br>
          <a:r>
            <a:rPr lang="en-IN" dirty="0"/>
            <a:t>Nearest neighbour, 5px radius</a:t>
          </a:r>
        </a:p>
      </dgm:t>
    </dgm:pt>
    <dgm:pt modelId="{FD7D8DAE-2658-4F4C-8966-A2AF067101EF}" type="parTrans" cxnId="{AF581914-9974-4852-8AAA-BF882F629208}">
      <dgm:prSet/>
      <dgm:spPr/>
      <dgm:t>
        <a:bodyPr/>
        <a:lstStyle/>
        <a:p>
          <a:endParaRPr lang="en-IN"/>
        </a:p>
      </dgm:t>
    </dgm:pt>
    <dgm:pt modelId="{70D11C08-936B-4A19-A68F-A047652D2761}" type="sibTrans" cxnId="{AF581914-9974-4852-8AAA-BF882F629208}">
      <dgm:prSet/>
      <dgm:spPr/>
      <dgm:t>
        <a:bodyPr/>
        <a:lstStyle/>
        <a:p>
          <a:endParaRPr lang="en-IN"/>
        </a:p>
      </dgm:t>
    </dgm:pt>
    <dgm:pt modelId="{55F7309F-816E-432B-AB7F-D7F14E936E5E}">
      <dgm:prSet/>
      <dgm:spPr/>
      <dgm:t>
        <a:bodyPr/>
        <a:lstStyle/>
        <a:p>
          <a:r>
            <a:rPr lang="en-IN" dirty="0"/>
            <a:t>Contour Extraction at NDWI = 0</a:t>
          </a:r>
          <a:br>
            <a:rPr lang="en-IN" dirty="0"/>
          </a:br>
          <a:r>
            <a:rPr lang="en-IN" dirty="0"/>
            <a:t>Water - Land boundary via GDAL</a:t>
          </a:r>
        </a:p>
      </dgm:t>
    </dgm:pt>
    <dgm:pt modelId="{EC6FF23E-5F7F-4F73-B333-D8DF888FC472}" type="parTrans" cxnId="{6C7265CC-18A4-4297-88BE-596F42A8D9AF}">
      <dgm:prSet/>
      <dgm:spPr/>
      <dgm:t>
        <a:bodyPr/>
        <a:lstStyle/>
        <a:p>
          <a:endParaRPr lang="en-IN"/>
        </a:p>
      </dgm:t>
    </dgm:pt>
    <dgm:pt modelId="{40F8BD90-94B0-4820-AB79-4056774961D7}" type="sibTrans" cxnId="{6C7265CC-18A4-4297-88BE-596F42A8D9AF}">
      <dgm:prSet/>
      <dgm:spPr/>
      <dgm:t>
        <a:bodyPr/>
        <a:lstStyle/>
        <a:p>
          <a:endParaRPr lang="en-IN"/>
        </a:p>
      </dgm:t>
    </dgm:pt>
    <dgm:pt modelId="{5BE6D209-09D3-49D7-BFAA-79C9E8D2F48B}">
      <dgm:prSet/>
      <dgm:spPr/>
      <dgm:t>
        <a:bodyPr/>
        <a:lstStyle/>
        <a:p>
          <a:r>
            <a:rPr lang="en-IN" dirty="0"/>
            <a:t>Proximity Filtering</a:t>
          </a:r>
          <a:br>
            <a:rPr lang="en-IN" dirty="0"/>
          </a:br>
          <a:r>
            <a:rPr lang="en-IN" dirty="0"/>
            <a:t>Length &gt; 10km + nearest to beach points</a:t>
          </a:r>
        </a:p>
      </dgm:t>
    </dgm:pt>
    <dgm:pt modelId="{15A6DF24-E30B-464D-80C9-61283998EED3}" type="parTrans" cxnId="{8AB1793C-1AB3-4456-917D-8D7D73B3B7A6}">
      <dgm:prSet/>
      <dgm:spPr/>
      <dgm:t>
        <a:bodyPr/>
        <a:lstStyle/>
        <a:p>
          <a:endParaRPr lang="en-IN"/>
        </a:p>
      </dgm:t>
    </dgm:pt>
    <dgm:pt modelId="{F06FC8E9-90F5-4FFC-BE56-ACB46935C24D}" type="sibTrans" cxnId="{8AB1793C-1AB3-4456-917D-8D7D73B3B7A6}">
      <dgm:prSet/>
      <dgm:spPr/>
      <dgm:t>
        <a:bodyPr/>
        <a:lstStyle/>
        <a:p>
          <a:endParaRPr lang="en-IN"/>
        </a:p>
      </dgm:t>
    </dgm:pt>
    <dgm:pt modelId="{5F44FD6F-7CB4-4189-8186-E936E057508E}">
      <dgm:prSet/>
      <dgm:spPr/>
      <dgm:t>
        <a:bodyPr/>
        <a:lstStyle/>
        <a:p>
          <a:r>
            <a:rPr lang="en-IN" dirty="0"/>
            <a:t>Shoreline Vector Output + Change Analysis</a:t>
          </a:r>
        </a:p>
      </dgm:t>
    </dgm:pt>
    <dgm:pt modelId="{B222F3D8-9E5A-4A59-868B-28F8D4B9271F}" type="parTrans" cxnId="{73B4224B-1953-43C4-AA63-5F67423A793D}">
      <dgm:prSet/>
      <dgm:spPr/>
      <dgm:t>
        <a:bodyPr/>
        <a:lstStyle/>
        <a:p>
          <a:endParaRPr lang="en-IN"/>
        </a:p>
      </dgm:t>
    </dgm:pt>
    <dgm:pt modelId="{069064AC-4E5F-4747-BE77-C98F31143EE2}" type="sibTrans" cxnId="{73B4224B-1953-43C4-AA63-5F67423A793D}">
      <dgm:prSet/>
      <dgm:spPr/>
      <dgm:t>
        <a:bodyPr/>
        <a:lstStyle/>
        <a:p>
          <a:endParaRPr lang="en-IN"/>
        </a:p>
      </dgm:t>
    </dgm:pt>
    <dgm:pt modelId="{4AC24608-9BF0-4761-95AF-B5FDFED3F06F}" type="pres">
      <dgm:prSet presAssocID="{3513986C-E0C2-420D-96E3-4830DEBC51FC}" presName="diagram" presStyleCnt="0">
        <dgm:presLayoutVars>
          <dgm:dir/>
          <dgm:resizeHandles val="exact"/>
        </dgm:presLayoutVars>
      </dgm:prSet>
      <dgm:spPr/>
    </dgm:pt>
    <dgm:pt modelId="{E0DB30C3-ABFB-4DE0-96D1-D78247D7FD23}" type="pres">
      <dgm:prSet presAssocID="{C1FDF77C-784A-4A2B-A918-2F2AD3E5FF89}" presName="node" presStyleLbl="node1" presStyleIdx="0" presStyleCnt="7">
        <dgm:presLayoutVars>
          <dgm:bulletEnabled val="1"/>
        </dgm:presLayoutVars>
      </dgm:prSet>
      <dgm:spPr/>
    </dgm:pt>
    <dgm:pt modelId="{2FED096A-0B4C-4C8A-979A-9C4C8ADAD801}" type="pres">
      <dgm:prSet presAssocID="{5AD7C0E6-A8C1-4A1B-99E2-0F0452CC61DE}" presName="sibTrans" presStyleLbl="sibTrans2D1" presStyleIdx="0" presStyleCnt="6"/>
      <dgm:spPr/>
    </dgm:pt>
    <dgm:pt modelId="{1E014893-6F74-4BFD-B818-956FAD409EA2}" type="pres">
      <dgm:prSet presAssocID="{5AD7C0E6-A8C1-4A1B-99E2-0F0452CC61DE}" presName="connectorText" presStyleLbl="sibTrans2D1" presStyleIdx="0" presStyleCnt="6"/>
      <dgm:spPr/>
    </dgm:pt>
    <dgm:pt modelId="{D7C4DD0F-B8D9-4D34-9BB2-74A6ACB867B1}" type="pres">
      <dgm:prSet presAssocID="{31495753-D9CE-4B6A-8F7E-9D3306C94ED5}" presName="node" presStyleLbl="node1" presStyleIdx="1" presStyleCnt="7">
        <dgm:presLayoutVars>
          <dgm:bulletEnabled val="1"/>
        </dgm:presLayoutVars>
      </dgm:prSet>
      <dgm:spPr/>
    </dgm:pt>
    <dgm:pt modelId="{4E1FE22F-32FA-442C-AE34-E0801E1A007F}" type="pres">
      <dgm:prSet presAssocID="{8BCCAE58-35A6-4B52-99E5-210724F6B499}" presName="sibTrans" presStyleLbl="sibTrans2D1" presStyleIdx="1" presStyleCnt="6"/>
      <dgm:spPr/>
    </dgm:pt>
    <dgm:pt modelId="{BE08F5E3-8172-4099-B515-2B80DD87678D}" type="pres">
      <dgm:prSet presAssocID="{8BCCAE58-35A6-4B52-99E5-210724F6B499}" presName="connectorText" presStyleLbl="sibTrans2D1" presStyleIdx="1" presStyleCnt="6"/>
      <dgm:spPr/>
    </dgm:pt>
    <dgm:pt modelId="{BFFB4B50-FCAC-47CB-9E9C-ECF87EC1FA6C}" type="pres">
      <dgm:prSet presAssocID="{11FCDCCE-4D89-4659-9865-F8CDA1C97136}" presName="node" presStyleLbl="node1" presStyleIdx="2" presStyleCnt="7">
        <dgm:presLayoutVars>
          <dgm:bulletEnabled val="1"/>
        </dgm:presLayoutVars>
      </dgm:prSet>
      <dgm:spPr/>
    </dgm:pt>
    <dgm:pt modelId="{025684A9-E949-4D80-B997-DBEAC5F7D550}" type="pres">
      <dgm:prSet presAssocID="{F7515849-BC60-487E-B9E7-B07CF114CB89}" presName="sibTrans" presStyleLbl="sibTrans2D1" presStyleIdx="2" presStyleCnt="6"/>
      <dgm:spPr/>
    </dgm:pt>
    <dgm:pt modelId="{B8CC7E97-7498-42EA-96C0-AE603DE41660}" type="pres">
      <dgm:prSet presAssocID="{F7515849-BC60-487E-B9E7-B07CF114CB89}" presName="connectorText" presStyleLbl="sibTrans2D1" presStyleIdx="2" presStyleCnt="6"/>
      <dgm:spPr/>
    </dgm:pt>
    <dgm:pt modelId="{891E7556-20EB-44E8-9FF8-890D44E9D730}" type="pres">
      <dgm:prSet presAssocID="{69F87418-374D-4261-9D32-4FE9EDD004AC}" presName="node" presStyleLbl="node1" presStyleIdx="3" presStyleCnt="7">
        <dgm:presLayoutVars>
          <dgm:bulletEnabled val="1"/>
        </dgm:presLayoutVars>
      </dgm:prSet>
      <dgm:spPr/>
    </dgm:pt>
    <dgm:pt modelId="{88256E93-E624-4A36-99E2-E76EC3534B9B}" type="pres">
      <dgm:prSet presAssocID="{70D11C08-936B-4A19-A68F-A047652D2761}" presName="sibTrans" presStyleLbl="sibTrans2D1" presStyleIdx="3" presStyleCnt="6"/>
      <dgm:spPr/>
    </dgm:pt>
    <dgm:pt modelId="{2906BF9A-B98A-4680-859A-A452FD716799}" type="pres">
      <dgm:prSet presAssocID="{70D11C08-936B-4A19-A68F-A047652D2761}" presName="connectorText" presStyleLbl="sibTrans2D1" presStyleIdx="3" presStyleCnt="6"/>
      <dgm:spPr/>
    </dgm:pt>
    <dgm:pt modelId="{BE07BC75-9A49-444E-8743-DED5C6BBD42A}" type="pres">
      <dgm:prSet presAssocID="{55F7309F-816E-432B-AB7F-D7F14E936E5E}" presName="node" presStyleLbl="node1" presStyleIdx="4" presStyleCnt="7">
        <dgm:presLayoutVars>
          <dgm:bulletEnabled val="1"/>
        </dgm:presLayoutVars>
      </dgm:prSet>
      <dgm:spPr/>
    </dgm:pt>
    <dgm:pt modelId="{9E023B2F-D156-47DF-BEC6-207A077F08EC}" type="pres">
      <dgm:prSet presAssocID="{40F8BD90-94B0-4820-AB79-4056774961D7}" presName="sibTrans" presStyleLbl="sibTrans2D1" presStyleIdx="4" presStyleCnt="6"/>
      <dgm:spPr/>
    </dgm:pt>
    <dgm:pt modelId="{D1C9ACB8-DF70-4A72-89AA-43C0F8E26295}" type="pres">
      <dgm:prSet presAssocID="{40F8BD90-94B0-4820-AB79-4056774961D7}" presName="connectorText" presStyleLbl="sibTrans2D1" presStyleIdx="4" presStyleCnt="6"/>
      <dgm:spPr/>
    </dgm:pt>
    <dgm:pt modelId="{47133BB8-4AFB-4226-BD1A-5F5451120673}" type="pres">
      <dgm:prSet presAssocID="{5BE6D209-09D3-49D7-BFAA-79C9E8D2F48B}" presName="node" presStyleLbl="node1" presStyleIdx="5" presStyleCnt="7">
        <dgm:presLayoutVars>
          <dgm:bulletEnabled val="1"/>
        </dgm:presLayoutVars>
      </dgm:prSet>
      <dgm:spPr/>
    </dgm:pt>
    <dgm:pt modelId="{37F3A03B-C7D7-4C29-BF49-B7AD3FEA5B2F}" type="pres">
      <dgm:prSet presAssocID="{F06FC8E9-90F5-4FFC-BE56-ACB46935C24D}" presName="sibTrans" presStyleLbl="sibTrans2D1" presStyleIdx="5" presStyleCnt="6"/>
      <dgm:spPr/>
    </dgm:pt>
    <dgm:pt modelId="{924EC88B-BF84-413B-8450-36288DC085A1}" type="pres">
      <dgm:prSet presAssocID="{F06FC8E9-90F5-4FFC-BE56-ACB46935C24D}" presName="connectorText" presStyleLbl="sibTrans2D1" presStyleIdx="5" presStyleCnt="6"/>
      <dgm:spPr/>
    </dgm:pt>
    <dgm:pt modelId="{A7564505-3652-45E3-A221-33A0242918E8}" type="pres">
      <dgm:prSet presAssocID="{5F44FD6F-7CB4-4189-8186-E936E057508E}" presName="node" presStyleLbl="node1" presStyleIdx="6" presStyleCnt="7">
        <dgm:presLayoutVars>
          <dgm:bulletEnabled val="1"/>
        </dgm:presLayoutVars>
      </dgm:prSet>
      <dgm:spPr/>
    </dgm:pt>
  </dgm:ptLst>
  <dgm:cxnLst>
    <dgm:cxn modelId="{E679F60D-F4BA-4F6B-BA05-B69FC58A8EC8}" type="presOf" srcId="{F7515849-BC60-487E-B9E7-B07CF114CB89}" destId="{025684A9-E949-4D80-B997-DBEAC5F7D550}" srcOrd="0" destOrd="0" presId="urn:microsoft.com/office/officeart/2005/8/layout/process5"/>
    <dgm:cxn modelId="{AF581914-9974-4852-8AAA-BF882F629208}" srcId="{3513986C-E0C2-420D-96E3-4830DEBC51FC}" destId="{69F87418-374D-4261-9D32-4FE9EDD004AC}" srcOrd="3" destOrd="0" parTransId="{FD7D8DAE-2658-4F4C-8966-A2AF067101EF}" sibTransId="{70D11C08-936B-4A19-A68F-A047652D2761}"/>
    <dgm:cxn modelId="{0A157319-71E2-41B0-B920-0A6628DC428B}" type="presOf" srcId="{40F8BD90-94B0-4820-AB79-4056774961D7}" destId="{9E023B2F-D156-47DF-BEC6-207A077F08EC}" srcOrd="0" destOrd="0" presId="urn:microsoft.com/office/officeart/2005/8/layout/process5"/>
    <dgm:cxn modelId="{D7FEF32F-A888-4FBE-BEFE-CC113CB7AD5C}" type="presOf" srcId="{F06FC8E9-90F5-4FFC-BE56-ACB46935C24D}" destId="{924EC88B-BF84-413B-8450-36288DC085A1}" srcOrd="1" destOrd="0" presId="urn:microsoft.com/office/officeart/2005/8/layout/process5"/>
    <dgm:cxn modelId="{2950FA39-7AB2-4A31-82D2-D7F51DFA385B}" srcId="{3513986C-E0C2-420D-96E3-4830DEBC51FC}" destId="{11FCDCCE-4D89-4659-9865-F8CDA1C97136}" srcOrd="2" destOrd="0" parTransId="{B348952B-30BD-42B2-8C33-65B4842D62FE}" sibTransId="{F7515849-BC60-487E-B9E7-B07CF114CB89}"/>
    <dgm:cxn modelId="{BCD0033C-F819-48F2-B0F6-90619CA8E932}" type="presOf" srcId="{F7515849-BC60-487E-B9E7-B07CF114CB89}" destId="{B8CC7E97-7498-42EA-96C0-AE603DE41660}" srcOrd="1" destOrd="0" presId="urn:microsoft.com/office/officeart/2005/8/layout/process5"/>
    <dgm:cxn modelId="{8AB1793C-1AB3-4456-917D-8D7D73B3B7A6}" srcId="{3513986C-E0C2-420D-96E3-4830DEBC51FC}" destId="{5BE6D209-09D3-49D7-BFAA-79C9E8D2F48B}" srcOrd="5" destOrd="0" parTransId="{15A6DF24-E30B-464D-80C9-61283998EED3}" sibTransId="{F06FC8E9-90F5-4FFC-BE56-ACB46935C24D}"/>
    <dgm:cxn modelId="{38DA7941-072C-48CB-96A7-C5F8B4E6ED27}" type="presOf" srcId="{70D11C08-936B-4A19-A68F-A047652D2761}" destId="{2906BF9A-B98A-4680-859A-A452FD716799}" srcOrd="1" destOrd="0" presId="urn:microsoft.com/office/officeart/2005/8/layout/process5"/>
    <dgm:cxn modelId="{F76B4663-CB67-41B4-9646-7923C91E7BE9}" type="presOf" srcId="{5F44FD6F-7CB4-4189-8186-E936E057508E}" destId="{A7564505-3652-45E3-A221-33A0242918E8}" srcOrd="0" destOrd="0" presId="urn:microsoft.com/office/officeart/2005/8/layout/process5"/>
    <dgm:cxn modelId="{73B4224B-1953-43C4-AA63-5F67423A793D}" srcId="{3513986C-E0C2-420D-96E3-4830DEBC51FC}" destId="{5F44FD6F-7CB4-4189-8186-E936E057508E}" srcOrd="6" destOrd="0" parTransId="{B222F3D8-9E5A-4A59-868B-28F8D4B9271F}" sibTransId="{069064AC-4E5F-4747-BE77-C98F31143EE2}"/>
    <dgm:cxn modelId="{E1E19F53-38E8-43A5-9CB7-42C15E9300F5}" type="presOf" srcId="{31495753-D9CE-4B6A-8F7E-9D3306C94ED5}" destId="{D7C4DD0F-B8D9-4D34-9BB2-74A6ACB867B1}" srcOrd="0" destOrd="0" presId="urn:microsoft.com/office/officeart/2005/8/layout/process5"/>
    <dgm:cxn modelId="{C8A6CF98-7A52-496A-A6B5-D6215C9E0CD5}" type="presOf" srcId="{40F8BD90-94B0-4820-AB79-4056774961D7}" destId="{D1C9ACB8-DF70-4A72-89AA-43C0F8E26295}" srcOrd="1" destOrd="0" presId="urn:microsoft.com/office/officeart/2005/8/layout/process5"/>
    <dgm:cxn modelId="{022166A0-737A-401F-BB90-A3342AB9AE0C}" type="presOf" srcId="{70D11C08-936B-4A19-A68F-A047652D2761}" destId="{88256E93-E624-4A36-99E2-E76EC3534B9B}" srcOrd="0" destOrd="0" presId="urn:microsoft.com/office/officeart/2005/8/layout/process5"/>
    <dgm:cxn modelId="{D59F2FA5-3CFB-4E0B-AA0F-4F5A75A93234}" type="presOf" srcId="{5AD7C0E6-A8C1-4A1B-99E2-0F0452CC61DE}" destId="{2FED096A-0B4C-4C8A-979A-9C4C8ADAD801}" srcOrd="0" destOrd="0" presId="urn:microsoft.com/office/officeart/2005/8/layout/process5"/>
    <dgm:cxn modelId="{7E14D3AD-1C9E-401F-BF19-28B2FBE49DE9}" type="presOf" srcId="{8BCCAE58-35A6-4B52-99E5-210724F6B499}" destId="{4E1FE22F-32FA-442C-AE34-E0801E1A007F}" srcOrd="0" destOrd="0" presId="urn:microsoft.com/office/officeart/2005/8/layout/process5"/>
    <dgm:cxn modelId="{EFEFF3AD-B6A1-4DB8-8BF2-DE9D4F363F12}" srcId="{3513986C-E0C2-420D-96E3-4830DEBC51FC}" destId="{C1FDF77C-784A-4A2B-A918-2F2AD3E5FF89}" srcOrd="0" destOrd="0" parTransId="{2625CF2F-6A2F-4464-9EAE-0825379D0AE5}" sibTransId="{5AD7C0E6-A8C1-4A1B-99E2-0F0452CC61DE}"/>
    <dgm:cxn modelId="{BD15F8B0-A21D-4A56-BB87-97107863E401}" type="presOf" srcId="{11FCDCCE-4D89-4659-9865-F8CDA1C97136}" destId="{BFFB4B50-FCAC-47CB-9E9C-ECF87EC1FA6C}" srcOrd="0" destOrd="0" presId="urn:microsoft.com/office/officeart/2005/8/layout/process5"/>
    <dgm:cxn modelId="{9567FFB7-8CE4-487E-91B3-3A5B9191B43C}" type="presOf" srcId="{3513986C-E0C2-420D-96E3-4830DEBC51FC}" destId="{4AC24608-9BF0-4761-95AF-B5FDFED3F06F}" srcOrd="0" destOrd="0" presId="urn:microsoft.com/office/officeart/2005/8/layout/process5"/>
    <dgm:cxn modelId="{628A38BC-6296-4D10-89B1-74C310B926C5}" type="presOf" srcId="{55F7309F-816E-432B-AB7F-D7F14E936E5E}" destId="{BE07BC75-9A49-444E-8743-DED5C6BBD42A}" srcOrd="0" destOrd="0" presId="urn:microsoft.com/office/officeart/2005/8/layout/process5"/>
    <dgm:cxn modelId="{C385C8C9-CC4C-4C20-B332-B7B65D8DEE68}" type="presOf" srcId="{F06FC8E9-90F5-4FFC-BE56-ACB46935C24D}" destId="{37F3A03B-C7D7-4C29-BF49-B7AD3FEA5B2F}" srcOrd="0" destOrd="0" presId="urn:microsoft.com/office/officeart/2005/8/layout/process5"/>
    <dgm:cxn modelId="{6C7265CC-18A4-4297-88BE-596F42A8D9AF}" srcId="{3513986C-E0C2-420D-96E3-4830DEBC51FC}" destId="{55F7309F-816E-432B-AB7F-D7F14E936E5E}" srcOrd="4" destOrd="0" parTransId="{EC6FF23E-5F7F-4F73-B333-D8DF888FC472}" sibTransId="{40F8BD90-94B0-4820-AB79-4056774961D7}"/>
    <dgm:cxn modelId="{C90EDCCD-FF51-4996-A614-DB1851E1291B}" type="presOf" srcId="{5AD7C0E6-A8C1-4A1B-99E2-0F0452CC61DE}" destId="{1E014893-6F74-4BFD-B818-956FAD409EA2}" srcOrd="1" destOrd="0" presId="urn:microsoft.com/office/officeart/2005/8/layout/process5"/>
    <dgm:cxn modelId="{5D2AE8D4-0E31-4B7C-8058-4ADC19B74BAE}" type="presOf" srcId="{69F87418-374D-4261-9D32-4FE9EDD004AC}" destId="{891E7556-20EB-44E8-9FF8-890D44E9D730}" srcOrd="0" destOrd="0" presId="urn:microsoft.com/office/officeart/2005/8/layout/process5"/>
    <dgm:cxn modelId="{621357DF-53CE-498E-84E1-18A0BECA9044}" type="presOf" srcId="{C1FDF77C-784A-4A2B-A918-2F2AD3E5FF89}" destId="{E0DB30C3-ABFB-4DE0-96D1-D78247D7FD23}" srcOrd="0" destOrd="0" presId="urn:microsoft.com/office/officeart/2005/8/layout/process5"/>
    <dgm:cxn modelId="{6326A3F0-0FE1-46F1-8B9F-36D5710ABA4E}" type="presOf" srcId="{8BCCAE58-35A6-4B52-99E5-210724F6B499}" destId="{BE08F5E3-8172-4099-B515-2B80DD87678D}" srcOrd="1" destOrd="0" presId="urn:microsoft.com/office/officeart/2005/8/layout/process5"/>
    <dgm:cxn modelId="{0D2A5EF1-D284-46C0-AC76-391F6995E81A}" srcId="{3513986C-E0C2-420D-96E3-4830DEBC51FC}" destId="{31495753-D9CE-4B6A-8F7E-9D3306C94ED5}" srcOrd="1" destOrd="0" parTransId="{B3B8EC49-2AA7-4A42-B165-4636A6E24511}" sibTransId="{8BCCAE58-35A6-4B52-99E5-210724F6B499}"/>
    <dgm:cxn modelId="{2B5099FE-93E6-4F84-B379-D2095EA97EB2}" type="presOf" srcId="{5BE6D209-09D3-49D7-BFAA-79C9E8D2F48B}" destId="{47133BB8-4AFB-4226-BD1A-5F5451120673}" srcOrd="0" destOrd="0" presId="urn:microsoft.com/office/officeart/2005/8/layout/process5"/>
    <dgm:cxn modelId="{30676AD3-F3E5-4D5C-B6A6-955CD67584BC}" type="presParOf" srcId="{4AC24608-9BF0-4761-95AF-B5FDFED3F06F}" destId="{E0DB30C3-ABFB-4DE0-96D1-D78247D7FD23}" srcOrd="0" destOrd="0" presId="urn:microsoft.com/office/officeart/2005/8/layout/process5"/>
    <dgm:cxn modelId="{E0C1B9E4-FBF4-4FED-A4A4-F5FD820DD94F}" type="presParOf" srcId="{4AC24608-9BF0-4761-95AF-B5FDFED3F06F}" destId="{2FED096A-0B4C-4C8A-979A-9C4C8ADAD801}" srcOrd="1" destOrd="0" presId="urn:microsoft.com/office/officeart/2005/8/layout/process5"/>
    <dgm:cxn modelId="{2BBC55AB-EA45-42F5-8600-0636AC5FE94D}" type="presParOf" srcId="{2FED096A-0B4C-4C8A-979A-9C4C8ADAD801}" destId="{1E014893-6F74-4BFD-B818-956FAD409EA2}" srcOrd="0" destOrd="0" presId="urn:microsoft.com/office/officeart/2005/8/layout/process5"/>
    <dgm:cxn modelId="{3DD6AAE0-70C5-4D3C-BBD7-541D6B63B2C1}" type="presParOf" srcId="{4AC24608-9BF0-4761-95AF-B5FDFED3F06F}" destId="{D7C4DD0F-B8D9-4D34-9BB2-74A6ACB867B1}" srcOrd="2" destOrd="0" presId="urn:microsoft.com/office/officeart/2005/8/layout/process5"/>
    <dgm:cxn modelId="{E5EA720E-6756-4F71-80BA-E648EB0C2F43}" type="presParOf" srcId="{4AC24608-9BF0-4761-95AF-B5FDFED3F06F}" destId="{4E1FE22F-32FA-442C-AE34-E0801E1A007F}" srcOrd="3" destOrd="0" presId="urn:microsoft.com/office/officeart/2005/8/layout/process5"/>
    <dgm:cxn modelId="{D90DF191-4A2A-4343-BD6A-77AE65F4A8A3}" type="presParOf" srcId="{4E1FE22F-32FA-442C-AE34-E0801E1A007F}" destId="{BE08F5E3-8172-4099-B515-2B80DD87678D}" srcOrd="0" destOrd="0" presId="urn:microsoft.com/office/officeart/2005/8/layout/process5"/>
    <dgm:cxn modelId="{EAE0A683-51C0-4A49-AE6B-48CDCB02C94B}" type="presParOf" srcId="{4AC24608-9BF0-4761-95AF-B5FDFED3F06F}" destId="{BFFB4B50-FCAC-47CB-9E9C-ECF87EC1FA6C}" srcOrd="4" destOrd="0" presId="urn:microsoft.com/office/officeart/2005/8/layout/process5"/>
    <dgm:cxn modelId="{4F8BC6E3-A126-4A77-97C8-E5414B04B775}" type="presParOf" srcId="{4AC24608-9BF0-4761-95AF-B5FDFED3F06F}" destId="{025684A9-E949-4D80-B997-DBEAC5F7D550}" srcOrd="5" destOrd="0" presId="urn:microsoft.com/office/officeart/2005/8/layout/process5"/>
    <dgm:cxn modelId="{E3A0F96F-6C86-4591-A156-1A0069878751}" type="presParOf" srcId="{025684A9-E949-4D80-B997-DBEAC5F7D550}" destId="{B8CC7E97-7498-42EA-96C0-AE603DE41660}" srcOrd="0" destOrd="0" presId="urn:microsoft.com/office/officeart/2005/8/layout/process5"/>
    <dgm:cxn modelId="{0F26DEBB-8573-48DF-9B56-D05689870849}" type="presParOf" srcId="{4AC24608-9BF0-4761-95AF-B5FDFED3F06F}" destId="{891E7556-20EB-44E8-9FF8-890D44E9D730}" srcOrd="6" destOrd="0" presId="urn:microsoft.com/office/officeart/2005/8/layout/process5"/>
    <dgm:cxn modelId="{DF77EDED-C9EF-45E7-9862-BE0F26E63A5C}" type="presParOf" srcId="{4AC24608-9BF0-4761-95AF-B5FDFED3F06F}" destId="{88256E93-E624-4A36-99E2-E76EC3534B9B}" srcOrd="7" destOrd="0" presId="urn:microsoft.com/office/officeart/2005/8/layout/process5"/>
    <dgm:cxn modelId="{ED540025-93CA-40CC-8307-1E80DB61E70E}" type="presParOf" srcId="{88256E93-E624-4A36-99E2-E76EC3534B9B}" destId="{2906BF9A-B98A-4680-859A-A452FD716799}" srcOrd="0" destOrd="0" presId="urn:microsoft.com/office/officeart/2005/8/layout/process5"/>
    <dgm:cxn modelId="{DC81D9B4-744D-40DA-8230-350C53F30EEE}" type="presParOf" srcId="{4AC24608-9BF0-4761-95AF-B5FDFED3F06F}" destId="{BE07BC75-9A49-444E-8743-DED5C6BBD42A}" srcOrd="8" destOrd="0" presId="urn:microsoft.com/office/officeart/2005/8/layout/process5"/>
    <dgm:cxn modelId="{C40E84BD-1089-4047-8941-737AEFE21F2D}" type="presParOf" srcId="{4AC24608-9BF0-4761-95AF-B5FDFED3F06F}" destId="{9E023B2F-D156-47DF-BEC6-207A077F08EC}" srcOrd="9" destOrd="0" presId="urn:microsoft.com/office/officeart/2005/8/layout/process5"/>
    <dgm:cxn modelId="{A0CAF387-FB00-46A9-AD2F-BC6A954D0AB3}" type="presParOf" srcId="{9E023B2F-D156-47DF-BEC6-207A077F08EC}" destId="{D1C9ACB8-DF70-4A72-89AA-43C0F8E26295}" srcOrd="0" destOrd="0" presId="urn:microsoft.com/office/officeart/2005/8/layout/process5"/>
    <dgm:cxn modelId="{898E9C38-E57C-40B7-A1F3-86A919B90D2D}" type="presParOf" srcId="{4AC24608-9BF0-4761-95AF-B5FDFED3F06F}" destId="{47133BB8-4AFB-4226-BD1A-5F5451120673}" srcOrd="10" destOrd="0" presId="urn:microsoft.com/office/officeart/2005/8/layout/process5"/>
    <dgm:cxn modelId="{806A14C9-ECCA-4F16-8097-04F3DB24902F}" type="presParOf" srcId="{4AC24608-9BF0-4761-95AF-B5FDFED3F06F}" destId="{37F3A03B-C7D7-4C29-BF49-B7AD3FEA5B2F}" srcOrd="11" destOrd="0" presId="urn:microsoft.com/office/officeart/2005/8/layout/process5"/>
    <dgm:cxn modelId="{405152A0-1BE0-46E4-81C8-27E07938D368}" type="presParOf" srcId="{37F3A03B-C7D7-4C29-BF49-B7AD3FEA5B2F}" destId="{924EC88B-BF84-413B-8450-36288DC085A1}" srcOrd="0" destOrd="0" presId="urn:microsoft.com/office/officeart/2005/8/layout/process5"/>
    <dgm:cxn modelId="{A5DF5FBC-C3D9-48EF-ABD5-A9C126C9CE0F}" type="presParOf" srcId="{4AC24608-9BF0-4761-95AF-B5FDFED3F06F}" destId="{A7564505-3652-45E3-A221-33A0242918E8}" srcOrd="12"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DB30C3-ABFB-4DE0-96D1-D78247D7FD23}">
      <dsp:nvSpPr>
        <dsp:cNvPr id="0" name=""/>
        <dsp:cNvSpPr/>
      </dsp:nvSpPr>
      <dsp:spPr>
        <a:xfrm>
          <a:off x="5086" y="260087"/>
          <a:ext cx="2223780" cy="133426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Landsat B3+B5</a:t>
          </a:r>
        </a:p>
      </dsp:txBody>
      <dsp:txXfrm>
        <a:off x="44165" y="299166"/>
        <a:ext cx="2145622" cy="1256110"/>
      </dsp:txXfrm>
    </dsp:sp>
    <dsp:sp modelId="{2FED096A-0B4C-4C8A-979A-9C4C8ADAD801}">
      <dsp:nvSpPr>
        <dsp:cNvPr id="0" name=""/>
        <dsp:cNvSpPr/>
      </dsp:nvSpPr>
      <dsp:spPr>
        <a:xfrm>
          <a:off x="2424559" y="651472"/>
          <a:ext cx="471441" cy="551497"/>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2424559" y="761771"/>
        <a:ext cx="330009" cy="330899"/>
      </dsp:txXfrm>
    </dsp:sp>
    <dsp:sp modelId="{D7C4DD0F-B8D9-4D34-9BB2-74A6ACB867B1}">
      <dsp:nvSpPr>
        <dsp:cNvPr id="0" name=""/>
        <dsp:cNvSpPr/>
      </dsp:nvSpPr>
      <dsp:spPr>
        <a:xfrm>
          <a:off x="3118379" y="260087"/>
          <a:ext cx="2223780" cy="1334268"/>
        </a:xfrm>
        <a:prstGeom prst="roundRect">
          <a:avLst>
            <a:gd name="adj" fmla="val 10000"/>
          </a:avLst>
        </a:prstGeom>
        <a:gradFill rotWithShape="0">
          <a:gsLst>
            <a:gs pos="0">
              <a:schemeClr val="accent4">
                <a:hueOff val="1633482"/>
                <a:satOff val="-6796"/>
                <a:lumOff val="1601"/>
                <a:alphaOff val="0"/>
                <a:lumMod val="110000"/>
                <a:satMod val="105000"/>
                <a:tint val="67000"/>
              </a:schemeClr>
            </a:gs>
            <a:gs pos="50000">
              <a:schemeClr val="accent4">
                <a:hueOff val="1633482"/>
                <a:satOff val="-6796"/>
                <a:lumOff val="1601"/>
                <a:alphaOff val="0"/>
                <a:lumMod val="105000"/>
                <a:satMod val="103000"/>
                <a:tint val="73000"/>
              </a:schemeClr>
            </a:gs>
            <a:gs pos="100000">
              <a:schemeClr val="accent4">
                <a:hueOff val="1633482"/>
                <a:satOff val="-6796"/>
                <a:lumOff val="160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NDWI Calculation</a:t>
          </a:r>
          <a:br>
            <a:rPr lang="en-IN" sz="1900" kern="1200" dirty="0"/>
          </a:br>
          <a:r>
            <a:rPr lang="en-IN" sz="1900" kern="1200" dirty="0"/>
            <a:t>(Green - NIR) / (Green + NIR)</a:t>
          </a:r>
        </a:p>
      </dsp:txBody>
      <dsp:txXfrm>
        <a:off x="3157458" y="299166"/>
        <a:ext cx="2145622" cy="1256110"/>
      </dsp:txXfrm>
    </dsp:sp>
    <dsp:sp modelId="{4E1FE22F-32FA-442C-AE34-E0801E1A007F}">
      <dsp:nvSpPr>
        <dsp:cNvPr id="0" name=""/>
        <dsp:cNvSpPr/>
      </dsp:nvSpPr>
      <dsp:spPr>
        <a:xfrm>
          <a:off x="5537853" y="651472"/>
          <a:ext cx="471441" cy="551497"/>
        </a:xfrm>
        <a:prstGeom prst="rightArrow">
          <a:avLst>
            <a:gd name="adj1" fmla="val 60000"/>
            <a:gd name="adj2" fmla="val 50000"/>
          </a:avLst>
        </a:prstGeom>
        <a:gradFill rotWithShape="0">
          <a:gsLst>
            <a:gs pos="0">
              <a:schemeClr val="accent4">
                <a:hueOff val="1960178"/>
                <a:satOff val="-8155"/>
                <a:lumOff val="1922"/>
                <a:alphaOff val="0"/>
                <a:lumMod val="110000"/>
                <a:satMod val="105000"/>
                <a:tint val="67000"/>
              </a:schemeClr>
            </a:gs>
            <a:gs pos="50000">
              <a:schemeClr val="accent4">
                <a:hueOff val="1960178"/>
                <a:satOff val="-8155"/>
                <a:lumOff val="1922"/>
                <a:alphaOff val="0"/>
                <a:lumMod val="105000"/>
                <a:satMod val="103000"/>
                <a:tint val="73000"/>
              </a:schemeClr>
            </a:gs>
            <a:gs pos="100000">
              <a:schemeClr val="accent4">
                <a:hueOff val="1960178"/>
                <a:satOff val="-8155"/>
                <a:lumOff val="1922"/>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5537853" y="761771"/>
        <a:ext cx="330009" cy="330899"/>
      </dsp:txXfrm>
    </dsp:sp>
    <dsp:sp modelId="{BFFB4B50-FCAC-47CB-9E9C-ECF87EC1FA6C}">
      <dsp:nvSpPr>
        <dsp:cNvPr id="0" name=""/>
        <dsp:cNvSpPr/>
      </dsp:nvSpPr>
      <dsp:spPr>
        <a:xfrm>
          <a:off x="6231672" y="260087"/>
          <a:ext cx="2223780" cy="1334268"/>
        </a:xfrm>
        <a:prstGeom prst="roundRect">
          <a:avLst>
            <a:gd name="adj" fmla="val 1000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AOI Clipping</a:t>
          </a:r>
          <a:br>
            <a:rPr lang="en-IN" sz="1900" kern="1200" dirty="0"/>
          </a:br>
          <a:r>
            <a:rPr lang="en-IN" sz="1900" kern="1200" dirty="0"/>
            <a:t>Focus on costal zone</a:t>
          </a:r>
        </a:p>
      </dsp:txBody>
      <dsp:txXfrm>
        <a:off x="6270751" y="299166"/>
        <a:ext cx="2145622" cy="1256110"/>
      </dsp:txXfrm>
    </dsp:sp>
    <dsp:sp modelId="{025684A9-E949-4D80-B997-DBEAC5F7D550}">
      <dsp:nvSpPr>
        <dsp:cNvPr id="0" name=""/>
        <dsp:cNvSpPr/>
      </dsp:nvSpPr>
      <dsp:spPr>
        <a:xfrm>
          <a:off x="8651146" y="651472"/>
          <a:ext cx="471441" cy="551497"/>
        </a:xfrm>
        <a:prstGeom prst="rightArrow">
          <a:avLst>
            <a:gd name="adj1" fmla="val 60000"/>
            <a:gd name="adj2" fmla="val 50000"/>
          </a:avLst>
        </a:prstGeom>
        <a:gradFill rotWithShape="0">
          <a:gsLst>
            <a:gs pos="0">
              <a:schemeClr val="accent4">
                <a:hueOff val="3920356"/>
                <a:satOff val="-16311"/>
                <a:lumOff val="3843"/>
                <a:alphaOff val="0"/>
                <a:lumMod val="110000"/>
                <a:satMod val="105000"/>
                <a:tint val="67000"/>
              </a:schemeClr>
            </a:gs>
            <a:gs pos="50000">
              <a:schemeClr val="accent4">
                <a:hueOff val="3920356"/>
                <a:satOff val="-16311"/>
                <a:lumOff val="3843"/>
                <a:alphaOff val="0"/>
                <a:lumMod val="105000"/>
                <a:satMod val="103000"/>
                <a:tint val="73000"/>
              </a:schemeClr>
            </a:gs>
            <a:gs pos="100000">
              <a:schemeClr val="accent4">
                <a:hueOff val="3920356"/>
                <a:satOff val="-16311"/>
                <a:lumOff val="384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8651146" y="761771"/>
        <a:ext cx="330009" cy="330899"/>
      </dsp:txXfrm>
    </dsp:sp>
    <dsp:sp modelId="{891E7556-20EB-44E8-9FF8-890D44E9D730}">
      <dsp:nvSpPr>
        <dsp:cNvPr id="0" name=""/>
        <dsp:cNvSpPr/>
      </dsp:nvSpPr>
      <dsp:spPr>
        <a:xfrm>
          <a:off x="9344965" y="260087"/>
          <a:ext cx="2223780" cy="1334268"/>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err="1"/>
            <a:t>NoData</a:t>
          </a:r>
          <a:r>
            <a:rPr lang="en-IN" sz="1900" kern="1200" dirty="0"/>
            <a:t> Filling</a:t>
          </a:r>
          <a:br>
            <a:rPr lang="en-IN" sz="1900" kern="1200" dirty="0"/>
          </a:br>
          <a:r>
            <a:rPr lang="en-IN" sz="1900" kern="1200" dirty="0"/>
            <a:t>Nearest neighbour, 5px radius</a:t>
          </a:r>
        </a:p>
      </dsp:txBody>
      <dsp:txXfrm>
        <a:off x="9384044" y="299166"/>
        <a:ext cx="2145622" cy="1256110"/>
      </dsp:txXfrm>
    </dsp:sp>
    <dsp:sp modelId="{88256E93-E624-4A36-99E2-E76EC3534B9B}">
      <dsp:nvSpPr>
        <dsp:cNvPr id="0" name=""/>
        <dsp:cNvSpPr/>
      </dsp:nvSpPr>
      <dsp:spPr>
        <a:xfrm rot="5400000">
          <a:off x="10221135" y="1750020"/>
          <a:ext cx="471441" cy="551497"/>
        </a:xfrm>
        <a:prstGeom prst="rightArrow">
          <a:avLst>
            <a:gd name="adj1" fmla="val 60000"/>
            <a:gd name="adj2" fmla="val 50000"/>
          </a:avLst>
        </a:prstGeom>
        <a:gradFill rotWithShape="0">
          <a:gsLst>
            <a:gs pos="0">
              <a:schemeClr val="accent4">
                <a:hueOff val="5880535"/>
                <a:satOff val="-24466"/>
                <a:lumOff val="5765"/>
                <a:alphaOff val="0"/>
                <a:lumMod val="110000"/>
                <a:satMod val="105000"/>
                <a:tint val="67000"/>
              </a:schemeClr>
            </a:gs>
            <a:gs pos="50000">
              <a:schemeClr val="accent4">
                <a:hueOff val="5880535"/>
                <a:satOff val="-24466"/>
                <a:lumOff val="5765"/>
                <a:alphaOff val="0"/>
                <a:lumMod val="105000"/>
                <a:satMod val="103000"/>
                <a:tint val="73000"/>
              </a:schemeClr>
            </a:gs>
            <a:gs pos="100000">
              <a:schemeClr val="accent4">
                <a:hueOff val="5880535"/>
                <a:satOff val="-24466"/>
                <a:lumOff val="5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5400000">
        <a:off x="10291406" y="1790048"/>
        <a:ext cx="330899" cy="330009"/>
      </dsp:txXfrm>
    </dsp:sp>
    <dsp:sp modelId="{BE07BC75-9A49-444E-8743-DED5C6BBD42A}">
      <dsp:nvSpPr>
        <dsp:cNvPr id="0" name=""/>
        <dsp:cNvSpPr/>
      </dsp:nvSpPr>
      <dsp:spPr>
        <a:xfrm>
          <a:off x="9344965" y="2483868"/>
          <a:ext cx="2223780" cy="1334268"/>
        </a:xfrm>
        <a:prstGeom prst="roundRect">
          <a:avLst>
            <a:gd name="adj" fmla="val 1000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Contour Extraction at NDWI = 0</a:t>
          </a:r>
          <a:br>
            <a:rPr lang="en-IN" sz="1900" kern="1200" dirty="0"/>
          </a:br>
          <a:r>
            <a:rPr lang="en-IN" sz="1900" kern="1200" dirty="0"/>
            <a:t>Water - Land boundary via GDAL</a:t>
          </a:r>
        </a:p>
      </dsp:txBody>
      <dsp:txXfrm>
        <a:off x="9384044" y="2522947"/>
        <a:ext cx="2145622" cy="1256110"/>
      </dsp:txXfrm>
    </dsp:sp>
    <dsp:sp modelId="{9E023B2F-D156-47DF-BEC6-207A077F08EC}">
      <dsp:nvSpPr>
        <dsp:cNvPr id="0" name=""/>
        <dsp:cNvSpPr/>
      </dsp:nvSpPr>
      <dsp:spPr>
        <a:xfrm rot="10800000">
          <a:off x="8677831" y="2875253"/>
          <a:ext cx="471441" cy="551497"/>
        </a:xfrm>
        <a:prstGeom prst="rightArrow">
          <a:avLst>
            <a:gd name="adj1" fmla="val 60000"/>
            <a:gd name="adj2" fmla="val 50000"/>
          </a:avLst>
        </a:prstGeom>
        <a:gradFill rotWithShape="0">
          <a:gsLst>
            <a:gs pos="0">
              <a:schemeClr val="accent4">
                <a:hueOff val="7840713"/>
                <a:satOff val="-32622"/>
                <a:lumOff val="7686"/>
                <a:alphaOff val="0"/>
                <a:lumMod val="110000"/>
                <a:satMod val="105000"/>
                <a:tint val="67000"/>
              </a:schemeClr>
            </a:gs>
            <a:gs pos="50000">
              <a:schemeClr val="accent4">
                <a:hueOff val="7840713"/>
                <a:satOff val="-32622"/>
                <a:lumOff val="7686"/>
                <a:alphaOff val="0"/>
                <a:lumMod val="105000"/>
                <a:satMod val="103000"/>
                <a:tint val="73000"/>
              </a:schemeClr>
            </a:gs>
            <a:gs pos="100000">
              <a:schemeClr val="accent4">
                <a:hueOff val="7840713"/>
                <a:satOff val="-32622"/>
                <a:lumOff val="7686"/>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8819263" y="2985552"/>
        <a:ext cx="330009" cy="330899"/>
      </dsp:txXfrm>
    </dsp:sp>
    <dsp:sp modelId="{47133BB8-4AFB-4226-BD1A-5F5451120673}">
      <dsp:nvSpPr>
        <dsp:cNvPr id="0" name=""/>
        <dsp:cNvSpPr/>
      </dsp:nvSpPr>
      <dsp:spPr>
        <a:xfrm>
          <a:off x="6231672" y="2483868"/>
          <a:ext cx="2223780" cy="1334268"/>
        </a:xfrm>
        <a:prstGeom prst="roundRect">
          <a:avLst>
            <a:gd name="adj" fmla="val 10000"/>
          </a:avLst>
        </a:prstGeom>
        <a:gradFill rotWithShape="0">
          <a:gsLst>
            <a:gs pos="0">
              <a:schemeClr val="accent4">
                <a:hueOff val="8167408"/>
                <a:satOff val="-33981"/>
                <a:lumOff val="8007"/>
                <a:alphaOff val="0"/>
                <a:lumMod val="110000"/>
                <a:satMod val="105000"/>
                <a:tint val="67000"/>
              </a:schemeClr>
            </a:gs>
            <a:gs pos="50000">
              <a:schemeClr val="accent4">
                <a:hueOff val="8167408"/>
                <a:satOff val="-33981"/>
                <a:lumOff val="8007"/>
                <a:alphaOff val="0"/>
                <a:lumMod val="105000"/>
                <a:satMod val="103000"/>
                <a:tint val="73000"/>
              </a:schemeClr>
            </a:gs>
            <a:gs pos="100000">
              <a:schemeClr val="accent4">
                <a:hueOff val="8167408"/>
                <a:satOff val="-33981"/>
                <a:lumOff val="800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Proximity Filtering</a:t>
          </a:r>
          <a:br>
            <a:rPr lang="en-IN" sz="1900" kern="1200" dirty="0"/>
          </a:br>
          <a:r>
            <a:rPr lang="en-IN" sz="1900" kern="1200" dirty="0"/>
            <a:t>Length &gt; 10km + nearest to beach points</a:t>
          </a:r>
        </a:p>
      </dsp:txBody>
      <dsp:txXfrm>
        <a:off x="6270751" y="2522947"/>
        <a:ext cx="2145622" cy="1256110"/>
      </dsp:txXfrm>
    </dsp:sp>
    <dsp:sp modelId="{37F3A03B-C7D7-4C29-BF49-B7AD3FEA5B2F}">
      <dsp:nvSpPr>
        <dsp:cNvPr id="0" name=""/>
        <dsp:cNvSpPr/>
      </dsp:nvSpPr>
      <dsp:spPr>
        <a:xfrm rot="10800000">
          <a:off x="5564538" y="2875253"/>
          <a:ext cx="471441" cy="551497"/>
        </a:xfrm>
        <a:prstGeom prst="rightArrow">
          <a:avLst>
            <a:gd name="adj1" fmla="val 60000"/>
            <a:gd name="adj2" fmla="val 5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rot="10800000">
        <a:off x="5705970" y="2985552"/>
        <a:ext cx="330009" cy="330899"/>
      </dsp:txXfrm>
    </dsp:sp>
    <dsp:sp modelId="{A7564505-3652-45E3-A221-33A0242918E8}">
      <dsp:nvSpPr>
        <dsp:cNvPr id="0" name=""/>
        <dsp:cNvSpPr/>
      </dsp:nvSpPr>
      <dsp:spPr>
        <a:xfrm>
          <a:off x="3118379" y="2483868"/>
          <a:ext cx="2223780" cy="1334268"/>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Shoreline Vector Output + Change Analysis</a:t>
          </a:r>
        </a:p>
      </dsp:txBody>
      <dsp:txXfrm>
        <a:off x="3157458" y="2522947"/>
        <a:ext cx="2145622" cy="125611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A1879-A072-4BAC-9F62-CA48948C4405}"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72DEE-A958-4A87-BC7C-19FA4897F391}" type="slidenum">
              <a:rPr lang="en-IN" smtClean="0"/>
              <a:t>‹#›</a:t>
            </a:fld>
            <a:endParaRPr lang="en-IN"/>
          </a:p>
        </p:txBody>
      </p:sp>
    </p:spTree>
    <p:extLst>
      <p:ext uri="{BB962C8B-B14F-4D97-AF65-F5344CB8AC3E}">
        <p14:creationId xmlns:p14="http://schemas.microsoft.com/office/powerpoint/2010/main" val="301249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1 — Title Slide</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*[Wait 2–3 seconds after joining the call, smile, then begin]*</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"Good Afternoon everyone. Thank you for this opportunity.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My name is Anup Bagde. I work as a Project Engineer at Centre for Development of Advanced Computing — CDAC Pune.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My background is primarily in software development. I recently got into GIS and geospatial work because at CDAC our group HPC-ESEG, we work on flood simulation and tsunami simulation on High Performance Computing systems. So coastal and water-related problems are very much part of our day-to-day work.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submission was done together with my mentor and manager, Girishchandra Yendargaye, who is a Scientist D at CDAC. He guided me through the geospatial aspects of this solution. Without his guidance this would not have been possible.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participated in this </a:t>
            </a:r>
            <a:r>
              <a:rPr lang="en-US" sz="1200" b="0" kern="1200" dirty="0" err="1">
                <a:solidFill>
                  <a:schemeClr val="tx1"/>
                </a:solidFill>
                <a:effectLst/>
                <a:latin typeface="+mn-lt"/>
                <a:ea typeface="+mn-ea"/>
                <a:cs typeface="+mn-cs"/>
              </a:rPr>
              <a:t>Mapathon</a:t>
            </a:r>
            <a:r>
              <a:rPr lang="en-US" sz="1200" b="0" kern="1200" dirty="0">
                <a:solidFill>
                  <a:schemeClr val="tx1"/>
                </a:solidFill>
                <a:effectLst/>
                <a:latin typeface="+mn-lt"/>
                <a:ea typeface="+mn-ea"/>
                <a:cs typeface="+mn-cs"/>
              </a:rPr>
              <a:t> because the problem — automated shoreline extraction — connects directly to what we do. Shoreline data is important for our flood and tsunami models. So this was both a learning opportunity and practically relevant to our work.</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Our Registration ID is MPS051.</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Today I will take you through our approach, the pipeline we built, the results, and where we see this going."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also want to mention — we came across this </a:t>
            </a:r>
            <a:r>
              <a:rPr lang="en-US" sz="1200" b="0" kern="1200" dirty="0" err="1">
                <a:solidFill>
                  <a:schemeClr val="tx1"/>
                </a:solidFill>
                <a:effectLst/>
                <a:latin typeface="+mn-lt"/>
                <a:ea typeface="+mn-ea"/>
                <a:cs typeface="+mn-cs"/>
              </a:rPr>
              <a:t>Mapathon</a:t>
            </a:r>
            <a:r>
              <a:rPr lang="en-US" sz="1200" b="0" kern="1200" dirty="0">
                <a:solidFill>
                  <a:schemeClr val="tx1"/>
                </a:solidFill>
                <a:effectLst/>
                <a:latin typeface="+mn-lt"/>
                <a:ea typeface="+mn-ea"/>
                <a:cs typeface="+mn-cs"/>
              </a:rPr>
              <a:t> a bit late, and given our ongoing project workload at CDAC, we had limited time to work on this. What we are presenting today is an honest proof of concept — it works, it is validated, but it is not a complete solution. We are aware of the gaps and I will talk about them openly.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2]**</a:t>
            </a:r>
            <a:endParaRPr lang="en-IN" dirty="0"/>
          </a:p>
        </p:txBody>
      </p:sp>
      <p:sp>
        <p:nvSpPr>
          <p:cNvPr id="4" name="Slide Number Placeholder 3"/>
          <p:cNvSpPr>
            <a:spLocks noGrp="1"/>
          </p:cNvSpPr>
          <p:nvPr>
            <p:ph type="sldNum" sz="quarter" idx="5"/>
          </p:nvPr>
        </p:nvSpPr>
        <p:spPr/>
        <p:txBody>
          <a:bodyPr/>
          <a:lstStyle/>
          <a:p>
            <a:fld id="{98F72DEE-A958-4A87-BC7C-19FA4897F391}" type="slidenum">
              <a:rPr lang="en-IN" smtClean="0"/>
              <a:t>1</a:t>
            </a:fld>
            <a:endParaRPr lang="en-IN"/>
          </a:p>
        </p:txBody>
      </p:sp>
    </p:spTree>
    <p:extLst>
      <p:ext uri="{BB962C8B-B14F-4D97-AF65-F5344CB8AC3E}">
        <p14:creationId xmlns:p14="http://schemas.microsoft.com/office/powerpoint/2010/main" val="3311667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Let me first quickly show that we understood what was asked.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problem statement had some clear requirements — extract shorelines automatically from satellite images taken at different times, account for tidal variation, detect how the shoreline is changing over time, and validate the results using beach profile data.</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reveal right column]**</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On the right side you can see what we addressed.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built a fully automated extraction pipeline. We ran analysis across three time periods. And we validated at four GPS beach reference locations.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want to be honest here — tidal correction is not implemented in this version. What we extracted are instantaneous shorelines — the position at the time of the satellite pass. Proper tidal </a:t>
            </a:r>
            <a:r>
              <a:rPr lang="en-US" sz="1200" b="0" kern="1200" dirty="0" err="1">
                <a:solidFill>
                  <a:schemeClr val="tx1"/>
                </a:solidFill>
                <a:effectLst/>
                <a:latin typeface="+mn-lt"/>
                <a:ea typeface="+mn-ea"/>
                <a:cs typeface="+mn-cs"/>
              </a:rPr>
              <a:t>normalisation</a:t>
            </a:r>
            <a:r>
              <a:rPr lang="en-US" sz="1200" b="0" kern="1200" dirty="0">
                <a:solidFill>
                  <a:schemeClr val="tx1"/>
                </a:solidFill>
                <a:effectLst/>
                <a:latin typeface="+mn-lt"/>
                <a:ea typeface="+mn-ea"/>
                <a:cs typeface="+mn-cs"/>
              </a:rPr>
              <a:t> is our top priority for the next version. I will come back to this in the limitations slide."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3]**</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2</a:t>
            </a:fld>
            <a:endParaRPr lang="en-IN"/>
          </a:p>
        </p:txBody>
      </p:sp>
    </p:spTree>
    <p:extLst>
      <p:ext uri="{BB962C8B-B14F-4D97-AF65-F5344CB8AC3E}">
        <p14:creationId xmlns:p14="http://schemas.microsoft.com/office/powerpoint/2010/main" val="9960489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3 — Data Used</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*[Point to Box 1]*</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satellite imagery was provided by the </a:t>
            </a:r>
            <a:r>
              <a:rPr lang="en-US" sz="1200" b="0" kern="1200" dirty="0" err="1">
                <a:solidFill>
                  <a:schemeClr val="tx1"/>
                </a:solidFill>
                <a:effectLst/>
                <a:latin typeface="+mn-lt"/>
                <a:ea typeface="+mn-ea"/>
                <a:cs typeface="+mn-cs"/>
              </a:rPr>
              <a:t>Mapathon</a:t>
            </a:r>
            <a:r>
              <a:rPr lang="en-US" sz="1200" b="0" kern="1200" dirty="0">
                <a:solidFill>
                  <a:schemeClr val="tx1"/>
                </a:solidFill>
                <a:effectLst/>
                <a:latin typeface="+mn-lt"/>
                <a:ea typeface="+mn-ea"/>
                <a:cs typeface="+mn-cs"/>
              </a:rPr>
              <a:t> organizers — Landsat 8, Level-2 Surface Reflectance product. The study area covers four beaches along the Tamil Nadu coast — </a:t>
            </a:r>
            <a:r>
              <a:rPr lang="en-US" sz="1200" b="0" kern="1200" dirty="0" err="1">
                <a:solidFill>
                  <a:schemeClr val="tx1"/>
                </a:solidFill>
                <a:effectLst/>
                <a:latin typeface="+mn-lt"/>
                <a:ea typeface="+mn-ea"/>
                <a:cs typeface="+mn-cs"/>
              </a:rPr>
              <a:t>Sayalkudi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T.Mariyur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Keelvaipar</a:t>
            </a:r>
            <a:r>
              <a:rPr lang="en-US" sz="1200" b="0" kern="1200" dirty="0">
                <a:solidFill>
                  <a:schemeClr val="tx1"/>
                </a:solidFill>
                <a:effectLst/>
                <a:latin typeface="+mn-lt"/>
                <a:ea typeface="+mn-ea"/>
                <a:cs typeface="+mn-cs"/>
              </a:rPr>
              <a:t>, and </a:t>
            </a:r>
            <a:r>
              <a:rPr lang="en-US" sz="1200" b="0" kern="1200" dirty="0" err="1">
                <a:solidFill>
                  <a:schemeClr val="tx1"/>
                </a:solidFill>
                <a:effectLst/>
                <a:latin typeface="+mn-lt"/>
                <a:ea typeface="+mn-ea"/>
                <a:cs typeface="+mn-cs"/>
              </a:rPr>
              <a:t>Ervadi</a:t>
            </a:r>
            <a:r>
              <a:rPr lang="en-US" sz="1200" b="0" kern="1200" dirty="0">
                <a:solidFill>
                  <a:schemeClr val="tx1"/>
                </a:solidFill>
                <a:effectLst/>
                <a:latin typeface="+mn-lt"/>
                <a:ea typeface="+mn-ea"/>
                <a:cs typeface="+mn-cs"/>
              </a:rPr>
              <a:t> — spanning roughly 100 </a:t>
            </a:r>
            <a:r>
              <a:rPr lang="en-US" sz="1200" b="0" kern="1200" dirty="0" err="1">
                <a:solidFill>
                  <a:schemeClr val="tx1"/>
                </a:solidFill>
                <a:effectLst/>
                <a:latin typeface="+mn-lt"/>
                <a:ea typeface="+mn-ea"/>
                <a:cs typeface="+mn-cs"/>
              </a:rPr>
              <a:t>kilometres</a:t>
            </a:r>
            <a:r>
              <a:rPr lang="en-US" sz="1200" b="0" kern="1200" dirty="0">
                <a:solidFill>
                  <a:schemeClr val="tx1"/>
                </a:solidFill>
                <a:effectLst/>
                <a:latin typeface="+mn-lt"/>
                <a:ea typeface="+mn-ea"/>
                <a:cs typeface="+mn-cs"/>
              </a:rPr>
              <a:t> of coastline.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Level-2 product means the images are already corrected for atmospheric effects — so the reflectance values represent actual ground surface properties, not atmospheric noise. This is important for reliable water index calculation.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From these images, we use two bands — Band 3, which is Green, and Band 5, which is Near Infrared. I will explain why these two specifically in the next slide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reveal Box 2]**</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problem asked for monthly data for 2023, excluding September, October, and November — that is nine months. The organizers provided images for all those months. However due to our time constraint, we worked with only three scenes that were clearly usable — April 18th, May 20th, and August 24th, 2023 — where cloud cover over the study area was minimal.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remaining months do have cloud cover issues, but with more time we could have handled this — Landsat provides a Quality Assessment band which can be used to mask cloudy pixels, and gap-filling techniques exist to reconstruct usable data. That is something we plan to do in the next version.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reveal Box 3]**</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reference data — we used the AOI polygon to clip our analysis to the study region, four GPS beach reference points for validation."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4]**</a:t>
            </a:r>
            <a:endParaRPr lang="en-IN" dirty="0"/>
          </a:p>
        </p:txBody>
      </p:sp>
      <p:sp>
        <p:nvSpPr>
          <p:cNvPr id="4" name="Slide Number Placeholder 3"/>
          <p:cNvSpPr>
            <a:spLocks noGrp="1"/>
          </p:cNvSpPr>
          <p:nvPr>
            <p:ph type="sldNum" sz="quarter" idx="5"/>
          </p:nvPr>
        </p:nvSpPr>
        <p:spPr/>
        <p:txBody>
          <a:bodyPr/>
          <a:lstStyle/>
          <a:p>
            <a:fld id="{98F72DEE-A958-4A87-BC7C-19FA4897F391}" type="slidenum">
              <a:rPr lang="en-IN" smtClean="0"/>
              <a:t>3</a:t>
            </a:fld>
            <a:endParaRPr lang="en-IN"/>
          </a:p>
        </p:txBody>
      </p:sp>
    </p:spTree>
    <p:extLst>
      <p:ext uri="{BB962C8B-B14F-4D97-AF65-F5344CB8AC3E}">
        <p14:creationId xmlns:p14="http://schemas.microsoft.com/office/powerpoint/2010/main" val="395846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4 — Methodology / Pipeline</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*[This is your most important slide. Take your time. Click step by step.]*</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let me walk you through the automated pipeline.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entire pipeline is written in Python. Three scripts — one for extraction, one for change detection, and one for summary statistics. I will explain each step as I go.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Input box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input is two raster files from Landsat — Band 3, Green, and Band 5, Near Infrared — for each date.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Step 1: NDWI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Step one is calculating the NDWI — Normalized Difference Water Index.</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formula is: Green minus NIR, divided by Green plus NIR.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Why these two bands? Water absorbs Near Infrared strongly and reflects Green light. Land and vegetation do the opposite — they reflect NIR and absorb visible light. So when you take this ratio, water pixels give a positive value, land pixels give a negative value, and the boundary between water and land — the shoreline — sits at zero.</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the code, we add a very small number — 1e-10 — to the denominator to avoid division by zero in dry areas.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Step 2: AOI Clipping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Step two — we clip the NDWI raster to the Area of Interest polygon. This removes the ocean far offshore and inland areas, so we focus only on the coastal zone. We use </a:t>
            </a:r>
            <a:r>
              <a:rPr lang="en-US" sz="1200" b="0" kern="1200" dirty="0" err="1">
                <a:solidFill>
                  <a:schemeClr val="tx1"/>
                </a:solidFill>
                <a:effectLst/>
                <a:latin typeface="+mn-lt"/>
                <a:ea typeface="+mn-ea"/>
                <a:cs typeface="+mn-cs"/>
              </a:rPr>
              <a:t>rasterio's</a:t>
            </a:r>
            <a:r>
              <a:rPr lang="en-US" sz="1200" b="0" kern="1200" dirty="0">
                <a:solidFill>
                  <a:schemeClr val="tx1"/>
                </a:solidFill>
                <a:effectLst/>
                <a:latin typeface="+mn-lt"/>
                <a:ea typeface="+mn-ea"/>
                <a:cs typeface="+mn-cs"/>
              </a:rPr>
              <a:t> mask function for this.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Step 3: </a:t>
            </a:r>
            <a:r>
              <a:rPr lang="en-US" sz="1200" b="1" kern="1200" dirty="0" err="1">
                <a:solidFill>
                  <a:schemeClr val="tx1"/>
                </a:solidFill>
                <a:effectLst/>
                <a:latin typeface="+mn-lt"/>
                <a:ea typeface="+mn-ea"/>
                <a:cs typeface="+mn-cs"/>
              </a:rPr>
              <a:t>NoData</a:t>
            </a:r>
            <a:r>
              <a:rPr lang="en-US" sz="1200" b="1" kern="1200" dirty="0">
                <a:solidFill>
                  <a:schemeClr val="tx1"/>
                </a:solidFill>
                <a:effectLst/>
                <a:latin typeface="+mn-lt"/>
                <a:ea typeface="+mn-ea"/>
                <a:cs typeface="+mn-cs"/>
              </a:rPr>
              <a:t> Filling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Step three — </a:t>
            </a:r>
            <a:r>
              <a:rPr lang="en-US" sz="1200" b="0" kern="1200" dirty="0" err="1">
                <a:solidFill>
                  <a:schemeClr val="tx1"/>
                </a:solidFill>
                <a:effectLst/>
                <a:latin typeface="+mn-lt"/>
                <a:ea typeface="+mn-ea"/>
                <a:cs typeface="+mn-cs"/>
              </a:rPr>
              <a:t>NoData</a:t>
            </a:r>
            <a:r>
              <a:rPr lang="en-US" sz="1200" b="0" kern="1200" dirty="0">
                <a:solidFill>
                  <a:schemeClr val="tx1"/>
                </a:solidFill>
                <a:effectLst/>
                <a:latin typeface="+mn-lt"/>
                <a:ea typeface="+mn-ea"/>
                <a:cs typeface="+mn-cs"/>
              </a:rPr>
              <a:t> filling. Satellite images sometimes have missing pixels — due to scan line errors or edge effects. These gaps can break the shoreline contour. So we fill them using nearest </a:t>
            </a:r>
            <a:r>
              <a:rPr lang="en-US" sz="1200" b="0" kern="1200" dirty="0" err="1">
                <a:solidFill>
                  <a:schemeClr val="tx1"/>
                </a:solidFill>
                <a:effectLst/>
                <a:latin typeface="+mn-lt"/>
                <a:ea typeface="+mn-ea"/>
                <a:cs typeface="+mn-cs"/>
              </a:rPr>
              <a:t>neighbour</a:t>
            </a:r>
            <a:r>
              <a:rPr lang="en-US" sz="1200" b="0" kern="1200" dirty="0">
                <a:solidFill>
                  <a:schemeClr val="tx1"/>
                </a:solidFill>
                <a:effectLst/>
                <a:latin typeface="+mn-lt"/>
                <a:ea typeface="+mn-ea"/>
                <a:cs typeface="+mn-cs"/>
              </a:rPr>
              <a:t> interpolation within a 5 pixel search radius using </a:t>
            </a:r>
            <a:r>
              <a:rPr lang="en-US" sz="1200" b="0" kern="1200" dirty="0" err="1">
                <a:solidFill>
                  <a:schemeClr val="tx1"/>
                </a:solidFill>
                <a:effectLst/>
                <a:latin typeface="+mn-lt"/>
                <a:ea typeface="+mn-ea"/>
                <a:cs typeface="+mn-cs"/>
              </a:rPr>
              <a:t>rasterio's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fillnodata</a:t>
            </a:r>
            <a:r>
              <a:rPr lang="en-US" sz="1200" b="0" kern="1200" dirty="0">
                <a:solidFill>
                  <a:schemeClr val="tx1"/>
                </a:solidFill>
                <a:effectLst/>
                <a:latin typeface="+mn-lt"/>
                <a:ea typeface="+mn-ea"/>
                <a:cs typeface="+mn-cs"/>
              </a:rPr>
              <a:t> function.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Step 4: Contour Extraction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Step four — contour extraction. We call GDAL's </a:t>
            </a:r>
            <a:r>
              <a:rPr lang="en-US" sz="1200" b="0" kern="1200" dirty="0" err="1">
                <a:solidFill>
                  <a:schemeClr val="tx1"/>
                </a:solidFill>
                <a:effectLst/>
                <a:latin typeface="+mn-lt"/>
                <a:ea typeface="+mn-ea"/>
                <a:cs typeface="+mn-cs"/>
              </a:rPr>
              <a:t>gdal_contour</a:t>
            </a:r>
            <a:r>
              <a:rPr lang="en-US" sz="1200" b="0" kern="1200" dirty="0">
                <a:solidFill>
                  <a:schemeClr val="tx1"/>
                </a:solidFill>
                <a:effectLst/>
                <a:latin typeface="+mn-lt"/>
                <a:ea typeface="+mn-ea"/>
                <a:cs typeface="+mn-cs"/>
              </a:rPr>
              <a:t> tool via subprocess. We ask it to extract the contour at NDWI equals zero. This gives us a line — or multiple lines — representing everywhere the NDWI transitions from positive to negative. That zero crossing is the water-land boundary.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Step 5: Proximity Filtering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Step five — filtering. NDWI zero contours can include many things — small ponds, rivers, irrigation canals. We do not want those. So we filter in two ways. First, we keep only contours longer than 10 </a:t>
            </a:r>
            <a:r>
              <a:rPr lang="en-US" sz="1200" b="0" kern="1200" dirty="0" err="1">
                <a:solidFill>
                  <a:schemeClr val="tx1"/>
                </a:solidFill>
                <a:effectLst/>
                <a:latin typeface="+mn-lt"/>
                <a:ea typeface="+mn-ea"/>
                <a:cs typeface="+mn-cs"/>
              </a:rPr>
              <a:t>kilometres</a:t>
            </a:r>
            <a:r>
              <a:rPr lang="en-US" sz="1200" b="0" kern="1200" dirty="0">
                <a:solidFill>
                  <a:schemeClr val="tx1"/>
                </a:solidFill>
                <a:effectLst/>
                <a:latin typeface="+mn-lt"/>
                <a:ea typeface="+mn-ea"/>
                <a:cs typeface="+mn-cs"/>
              </a:rPr>
              <a:t> — this removes small water bodies. Second, among the remaining contours, we pick the one that is closest to our GPS beach reference points. This ensures we are selecting the actual coastline and not some inland water feature.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Output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output is a shoreline vector saved as a </a:t>
            </a:r>
            <a:r>
              <a:rPr lang="en-US" sz="1200" b="0" kern="1200" dirty="0" err="1">
                <a:solidFill>
                  <a:schemeClr val="tx1"/>
                </a:solidFill>
                <a:effectLst/>
                <a:latin typeface="+mn-lt"/>
                <a:ea typeface="+mn-ea"/>
                <a:cs typeface="+mn-cs"/>
              </a:rPr>
              <a:t>GeoPackage</a:t>
            </a:r>
            <a:r>
              <a:rPr lang="en-US" sz="1200" b="0" kern="1200" dirty="0">
                <a:solidFill>
                  <a:schemeClr val="tx1"/>
                </a:solidFill>
                <a:effectLst/>
                <a:latin typeface="+mn-lt"/>
                <a:ea typeface="+mn-ea"/>
                <a:cs typeface="+mn-cs"/>
              </a:rPr>
              <a:t> file, with attributes — date, length, source scene ID, and extraction method.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complete pipeline — extraction, change detection, and summary — runs in under 25 seconds on a standard laptop. CPU-only, no GPU needed."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5]**</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4</a:t>
            </a:fld>
            <a:endParaRPr lang="en-IN"/>
          </a:p>
        </p:txBody>
      </p:sp>
    </p:spTree>
    <p:extLst>
      <p:ext uri="{BB962C8B-B14F-4D97-AF65-F5344CB8AC3E}">
        <p14:creationId xmlns:p14="http://schemas.microsoft.com/office/powerpoint/2010/main" val="3106104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5 — Results</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*[Point to table first, then change stats, then map]*</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"Here are the results.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length table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extracted shorelines for all three months. The lengths are 99,720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for April, 96,501 for May, and 97,358 for August — all roughly 97 to 100 </a:t>
            </a:r>
            <a:r>
              <a:rPr lang="en-US" sz="1200" b="0" kern="1200" dirty="0" err="1">
                <a:solidFill>
                  <a:schemeClr val="tx1"/>
                </a:solidFill>
                <a:effectLst/>
                <a:latin typeface="+mn-lt"/>
                <a:ea typeface="+mn-ea"/>
                <a:cs typeface="+mn-cs"/>
              </a:rPr>
              <a:t>kilometres</a:t>
            </a:r>
            <a:r>
              <a:rPr lang="en-US" sz="1200" b="0" kern="1200" dirty="0">
                <a:solidFill>
                  <a:schemeClr val="tx1"/>
                </a:solidFill>
                <a:effectLst/>
                <a:latin typeface="+mn-lt"/>
                <a:ea typeface="+mn-ea"/>
                <a:cs typeface="+mn-cs"/>
              </a:rPr>
              <a:t>. The consistency across months is actually a good sign — it means the pipeline is stable and not producing wildly different results due to noise.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change stats appear]**</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For shoreline change — we measured positional shifts at each beach reference point using a perpendicular transect method. At each beach point, we draw a line perpendicular to the shoreline and measure where each month's shoreline intersects that line. The distance between those intersections is the shoreline change.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maximum change detected was 10.69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at </a:t>
            </a:r>
            <a:r>
              <a:rPr lang="en-US" sz="1200" b="0" kern="1200" dirty="0" err="1">
                <a:solidFill>
                  <a:schemeClr val="tx1"/>
                </a:solidFill>
                <a:effectLst/>
                <a:latin typeface="+mn-lt"/>
                <a:ea typeface="+mn-ea"/>
                <a:cs typeface="+mn-cs"/>
              </a:rPr>
              <a:t>Keelvaipar</a:t>
            </a:r>
            <a:r>
              <a:rPr lang="en-US" sz="1200" b="0" kern="1200" dirty="0">
                <a:solidFill>
                  <a:schemeClr val="tx1"/>
                </a:solidFill>
                <a:effectLst/>
                <a:latin typeface="+mn-lt"/>
                <a:ea typeface="+mn-ea"/>
                <a:cs typeface="+mn-cs"/>
              </a:rPr>
              <a:t> Beach between April and May.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Now — at 30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pixel resolution, detecting a 10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change might seem optimistic. But NDWI contours are sub-pixel accurate because we are extracting a mathematical zero crossing, not a pixel boundary. So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-scale detection is reasonable here.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map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our multi-temporal shoreline map. Blue is August, green is May, red is April. The four beach reference points are marked. You can see the three shorelines running along the coast — they are very close together, which is consistent with the small change values we measured."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6]**</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5</a:t>
            </a:fld>
            <a:endParaRPr lang="en-IN"/>
          </a:p>
        </p:txBody>
      </p:sp>
    </p:spTree>
    <p:extLst>
      <p:ext uri="{BB962C8B-B14F-4D97-AF65-F5344CB8AC3E}">
        <p14:creationId xmlns:p14="http://schemas.microsoft.com/office/powerpoint/2010/main" val="266624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6 — Validation</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*[Keep calm and confident here — this slide is straightforward]*</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 validate our automated results, we also manually extracted shorelines in QGIS using the same NDWI </a:t>
            </a:r>
            <a:r>
              <a:rPr lang="en-US" sz="1200" b="0" kern="1200" dirty="0" err="1">
                <a:solidFill>
                  <a:schemeClr val="tx1"/>
                </a:solidFill>
                <a:effectLst/>
                <a:latin typeface="+mn-lt"/>
                <a:ea typeface="+mn-ea"/>
                <a:cs typeface="+mn-cs"/>
              </a:rPr>
              <a:t>rasters</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left column]**</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approach was simple — load the same NDWI file in QGIS, visually identify the zero boundary, and digitize the shoreline manually. We did this for all three months. This gives us a human-verified reference to compare against.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right column]**</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comparison showed that the automated pipeline results were consistent with the manual extraction. The positional difference was within one to two pixels — 30 to 60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 which is acceptable at 30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Landsat resolution.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Both methods also showed the same seasonal pattern of change, which confirms the pipeline is capturing real coastal dynamics and not artifacts.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want to be careful not to overstate accuracy here — at 30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resolution, we cannot detect very small changes. But for regional-scale coastal monitoring, the pipeline performs reliably."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7]**</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6</a:t>
            </a:fld>
            <a:endParaRPr lang="en-IN"/>
          </a:p>
        </p:txBody>
      </p:sp>
    </p:spTree>
    <p:extLst>
      <p:ext uri="{BB962C8B-B14F-4D97-AF65-F5344CB8AC3E}">
        <p14:creationId xmlns:p14="http://schemas.microsoft.com/office/powerpoint/2010/main" val="426933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7 — Limitations &amp; Honest Gaps</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*[Speak calmly here — being honest is a strength, not a weakness]*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 want to be upfront about the limitations of this work. We think it is important to know what your system cannot do, not just what it can.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bullets appear one by one as you speak each one]**</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First — tidal </a:t>
            </a:r>
            <a:r>
              <a:rPr lang="en-US" sz="1200" b="0" kern="1200" dirty="0" err="1">
                <a:solidFill>
                  <a:schemeClr val="tx1"/>
                </a:solidFill>
                <a:effectLst/>
                <a:latin typeface="+mn-lt"/>
                <a:ea typeface="+mn-ea"/>
                <a:cs typeface="+mn-cs"/>
              </a:rPr>
              <a:t>normalisation</a:t>
            </a:r>
            <a:r>
              <a:rPr lang="en-US" sz="1200" b="0" kern="1200" dirty="0">
                <a:solidFill>
                  <a:schemeClr val="tx1"/>
                </a:solidFill>
                <a:effectLst/>
                <a:latin typeface="+mn-lt"/>
                <a:ea typeface="+mn-ea"/>
                <a:cs typeface="+mn-cs"/>
              </a:rPr>
              <a:t> is not implemented. We have the HTL and LTL data, and we understand the concept — that shoreline position shifts with tide level, so to compare shorelines across dates fairly, you need to correct them to the same tidal datum. We did not implement this correction in this version. It is the most important gap.</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Second — we only had three usable months out of nine due to cloud cover. This limits the temporal resolution of our analysis.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Third — Landsat has 30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pixel resolution. This means any shoreline shift smaller than roughly 15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is difficult to detect reliably. Higher resolution data like Sentinel-2 at 10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or commercial data, would improve this.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Fourth — beach profile validation is limited. We used a single-date profile for reference. A full 3D validation with multi-date profiles was not done.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Fifth — we do not currently flag anomalous shoreline positions — for example, positions affected by storm surges or extreme tidal events. A production system would need this.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These are known gaps and they form the basis of our roadmap."</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8]**</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7</a:t>
            </a:fld>
            <a:endParaRPr lang="en-IN"/>
          </a:p>
        </p:txBody>
      </p:sp>
    </p:spTree>
    <p:extLst>
      <p:ext uri="{BB962C8B-B14F-4D97-AF65-F5344CB8AC3E}">
        <p14:creationId xmlns:p14="http://schemas.microsoft.com/office/powerpoint/2010/main" val="717438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8 — Future Roadmap</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*[This slide shows vision — speak with a bit more energy here]*</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"Based on what we have built, here is where we see this going.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Near Term box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the near term — the first priority is implementing full tidal correction using the HTL and LTL data. Second, expanding temporal coverage by using Sentinel-2 data, which gives 10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resolution and 5-day revisit. Third, adding automated cloud masking so we do not have to manually check cloud cover.</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Medium Term box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In the medium term — we want to apply machine learning to improve shoreline boundary detection, especially in areas where NDWI alone struggles — shallow water, turbid water, and mixed sand-rock boundaries. We also want full 3D validation using the beach profile data.</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Long Term box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Long term — deploying this on HPC infrastructure for national scale monitoring, building a real-time erosion alert system, and integrating with coastal management dashboards.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Integration section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But more importantly — this is not just future work on paper. At CDAC, we have two existing systems where this directly fits.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first is our C-Flood portal — this is CDAC's operational flood simulation platform for the Mahanadi Delta. Tidal input is already part of that simulation. Integrating dynamic shoreline data from this pipeline as a module would improve the coastal boundary conditions of the flood model.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second is the EU Ganana project — under the Natural Hazards work package, we are working on tsunami simulation. Accurate and up-to-date shoreline data is critical for defining the coastal boundary in tsunami propagation models. This pipeline can directly feed into that."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to Slide 9]**</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8</a:t>
            </a:fld>
            <a:endParaRPr lang="en-IN"/>
          </a:p>
        </p:txBody>
      </p:sp>
    </p:spTree>
    <p:extLst>
      <p:ext uri="{BB962C8B-B14F-4D97-AF65-F5344CB8AC3E}">
        <p14:creationId xmlns:p14="http://schemas.microsoft.com/office/powerpoint/2010/main" val="1290268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SLIDE 9 — Conclusion</a:t>
            </a: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*[Speak slowly and clearly — this is your closing, make it land]*</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"To summarize —</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bullets appear one by one]**</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built a fully automated, reproducible shoreline extraction pipeline in Python using open-source tools — </a:t>
            </a:r>
            <a:r>
              <a:rPr lang="en-US" sz="1200" b="0" kern="1200" dirty="0" err="1">
                <a:solidFill>
                  <a:schemeClr val="tx1"/>
                </a:solidFill>
                <a:effectLst/>
                <a:latin typeface="+mn-lt"/>
                <a:ea typeface="+mn-ea"/>
                <a:cs typeface="+mn-cs"/>
              </a:rPr>
              <a:t>rasterio</a:t>
            </a:r>
            <a:r>
              <a:rPr lang="en-US" sz="1200" b="0" kern="1200" dirty="0">
                <a:solidFill>
                  <a:schemeClr val="tx1"/>
                </a:solidFill>
                <a:effectLst/>
                <a:latin typeface="+mn-lt"/>
                <a:ea typeface="+mn-ea"/>
                <a:cs typeface="+mn-cs"/>
              </a:rPr>
              <a:t>, GDAL, </a:t>
            </a:r>
            <a:r>
              <a:rPr lang="en-US" sz="1200" b="0" kern="1200" dirty="0" err="1">
                <a:solidFill>
                  <a:schemeClr val="tx1"/>
                </a:solidFill>
                <a:effectLst/>
                <a:latin typeface="+mn-lt"/>
                <a:ea typeface="+mn-ea"/>
                <a:cs typeface="+mn-cs"/>
              </a:rPr>
              <a:t>GeoPandas</a:t>
            </a:r>
            <a:r>
              <a:rPr lang="en-US" sz="1200" b="0" kern="1200" dirty="0">
                <a:solidFill>
                  <a:schemeClr val="tx1"/>
                </a:solidFill>
                <a:effectLst/>
                <a:latin typeface="+mn-lt"/>
                <a:ea typeface="+mn-ea"/>
                <a:cs typeface="+mn-cs"/>
              </a:rPr>
              <a:t>, and Shapely.</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validated it across three time periods and at four GPS reference locations.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We detected shoreline changes at the </a:t>
            </a:r>
            <a:r>
              <a:rPr lang="en-US" sz="1200" b="0" kern="1200" dirty="0" err="1">
                <a:solidFill>
                  <a:schemeClr val="tx1"/>
                </a:solidFill>
                <a:effectLst/>
                <a:latin typeface="+mn-lt"/>
                <a:ea typeface="+mn-ea"/>
                <a:cs typeface="+mn-cs"/>
              </a:rPr>
              <a:t>metre</a:t>
            </a:r>
            <a:r>
              <a:rPr lang="en-US" sz="1200" b="0" kern="1200" dirty="0">
                <a:solidFill>
                  <a:schemeClr val="tx1"/>
                </a:solidFill>
                <a:effectLst/>
                <a:latin typeface="+mn-lt"/>
                <a:ea typeface="+mn-ea"/>
                <a:cs typeface="+mn-cs"/>
              </a:rPr>
              <a:t> scale — maximum 10.69 </a:t>
            </a:r>
            <a:r>
              <a:rPr lang="en-US" sz="1200" b="0" kern="1200" dirty="0" err="1">
                <a:solidFill>
                  <a:schemeClr val="tx1"/>
                </a:solidFill>
                <a:effectLst/>
                <a:latin typeface="+mn-lt"/>
                <a:ea typeface="+mn-ea"/>
                <a:cs typeface="+mn-cs"/>
              </a:rPr>
              <a:t>metres</a:t>
            </a:r>
            <a:r>
              <a:rPr lang="en-US" sz="1200" b="0" kern="1200" dirty="0">
                <a:solidFill>
                  <a:schemeClr val="tx1"/>
                </a:solidFill>
                <a:effectLst/>
                <a:latin typeface="+mn-lt"/>
                <a:ea typeface="+mn-ea"/>
                <a:cs typeface="+mn-cs"/>
              </a:rPr>
              <a:t> at </a:t>
            </a:r>
            <a:r>
              <a:rPr lang="en-US" sz="1200" b="0" kern="1200" dirty="0" err="1">
                <a:solidFill>
                  <a:schemeClr val="tx1"/>
                </a:solidFill>
                <a:effectLst/>
                <a:latin typeface="+mn-lt"/>
                <a:ea typeface="+mn-ea"/>
                <a:cs typeface="+mn-cs"/>
              </a:rPr>
              <a:t>Keelvaipar</a:t>
            </a:r>
            <a:r>
              <a:rPr lang="en-US" sz="1200" b="0" kern="1200" dirty="0">
                <a:solidFill>
                  <a:schemeClr val="tx1"/>
                </a:solidFill>
                <a:effectLst/>
                <a:latin typeface="+mn-lt"/>
                <a:ea typeface="+mn-ea"/>
                <a:cs typeface="+mn-cs"/>
              </a:rPr>
              <a:t> Beach.</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The automated results are consistent with manual QGIS extraction.</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Processing time is about 25 sec for whole pipeline, which scales well.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And the entire stack is open-source — freely deployable without any licensing cost.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**[CUE → Click — map appears]**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This is a working, validated proof of concept. It is not complete — we have acknowledged the gaps honestly. But it demonstrates that the core approach is sound and the pipeline is functional.</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Given that our team already works on flood and tsunami simulation at CDAC, this is not a standalone experiment. There is a real home for this work in systems we are actively building.</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Thank you for your time. I am happy to take questions."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*[Breathe. Smile. Wait.]*</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8F72DEE-A958-4A87-BC7C-19FA4897F391}" type="slidenum">
              <a:rPr lang="en-IN" smtClean="0"/>
              <a:t>9</a:t>
            </a:fld>
            <a:endParaRPr lang="en-IN"/>
          </a:p>
        </p:txBody>
      </p:sp>
    </p:spTree>
    <p:extLst>
      <p:ext uri="{BB962C8B-B14F-4D97-AF65-F5344CB8AC3E}">
        <p14:creationId xmlns:p14="http://schemas.microsoft.com/office/powerpoint/2010/main" val="200851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F72DEE-A958-4A87-BC7C-19FA4897F391}" type="slidenum">
              <a:rPr lang="en-IN" smtClean="0"/>
              <a:t>10</a:t>
            </a:fld>
            <a:endParaRPr lang="en-IN"/>
          </a:p>
        </p:txBody>
      </p:sp>
    </p:spTree>
    <p:extLst>
      <p:ext uri="{BB962C8B-B14F-4D97-AF65-F5344CB8AC3E}">
        <p14:creationId xmlns:p14="http://schemas.microsoft.com/office/powerpoint/2010/main" val="2518761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6ACB-1471-7787-4B3D-72D7491F2F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549F90-5D73-75D3-C740-4B2AC222ED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660F4A9-030A-D488-A2D0-D083DB654214}"/>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E4E4E53F-C923-7ED9-6AEA-2CCD55AD3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48E929-5421-0D04-01AB-014BB16566D6}"/>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953533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B975D-136B-1FA6-F02E-2A790F09A7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406697-F70D-FBEA-6E3E-FE8A82EACF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E7EE0E-90C4-9F77-EF24-8C6597EAD90D}"/>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9486B0D1-2370-8B0F-5CFC-66D2BEF3E2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62CF5D-174D-C04C-98FB-7348AE68BCD4}"/>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453575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EAA0C-F60E-9EC8-B15A-A085DBB219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DA584B-A415-87AB-BBB5-BEDA5A88DC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ECBBE5-B6EA-BF4E-F637-F3EF10353753}"/>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F3F24225-6A23-340C-49E0-EA9BF7E867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5FDDBF-8F78-C40A-E236-8A902C8A56A4}"/>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280826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4B80-F53D-4E35-0786-97ADDBC6FD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5B79AA-BD13-8D1F-AC7B-8C81EFE66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2A86BD-5FBE-9B79-B07C-29D0D7B608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1EF21D-1A70-69AE-6487-8FD90C5AB697}"/>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6" name="Footer Placeholder 5">
            <a:extLst>
              <a:ext uri="{FF2B5EF4-FFF2-40B4-BE49-F238E27FC236}">
                <a16:creationId xmlns:a16="http://schemas.microsoft.com/office/drawing/2014/main" id="{4FE11F48-D18E-BCA5-7A0D-7901663032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077C46-64B5-8B66-B4F3-7577E161C495}"/>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575134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30A5E-1B77-9CB4-9CF9-7D08193009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FE6A5A-A298-4306-2198-7284E40B89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B79E2B-E1FF-93B9-DEFE-4E28D9704E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DD14ED2-5C76-D70E-9DE8-5F7D1110B0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C103C1-1077-415B-A3C6-4216C123D6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E2F5E2-C4E5-350D-EE07-281A57CCB34D}"/>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8" name="Footer Placeholder 7">
            <a:extLst>
              <a:ext uri="{FF2B5EF4-FFF2-40B4-BE49-F238E27FC236}">
                <a16:creationId xmlns:a16="http://schemas.microsoft.com/office/drawing/2014/main" id="{A9ED0E3A-5E8C-A2D2-FA60-C9C8055BCE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CED6F6-3773-5402-21B8-D5F9A91BA02B}"/>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029507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2E39-D210-B47A-89C8-5132E848446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1DA8480-F1FA-3EE5-08A8-25D5EFF3A5ED}"/>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4" name="Footer Placeholder 3">
            <a:extLst>
              <a:ext uri="{FF2B5EF4-FFF2-40B4-BE49-F238E27FC236}">
                <a16:creationId xmlns:a16="http://schemas.microsoft.com/office/drawing/2014/main" id="{8A4C948C-1725-F9B3-EC2F-3C14622BF2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1BFD0E-C3F2-EEEB-406A-18179B9835DF}"/>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252546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DB09FE-A6F3-AE88-FA92-1C34E2D397AB}"/>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3" name="Footer Placeholder 2">
            <a:extLst>
              <a:ext uri="{FF2B5EF4-FFF2-40B4-BE49-F238E27FC236}">
                <a16:creationId xmlns:a16="http://schemas.microsoft.com/office/drawing/2014/main" id="{BF934523-53A5-246C-00B5-036B8329F4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8AA5F3-396D-C609-FCAC-EE89858586A9}"/>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64447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FCDD1-4C2D-F02D-AE4E-54DC6723D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483131-8124-54C8-4DD0-34B5A1256E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DD2C60-5CF5-ED48-C712-6B3361789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C2A5BE-CECD-8E31-0F13-236EDD1C10DA}"/>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6" name="Footer Placeholder 5">
            <a:extLst>
              <a:ext uri="{FF2B5EF4-FFF2-40B4-BE49-F238E27FC236}">
                <a16:creationId xmlns:a16="http://schemas.microsoft.com/office/drawing/2014/main" id="{0336D918-C4A1-F709-A87C-4D892ACB58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2681A5-1157-E2FF-ABA7-C5F80BA5277B}"/>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1278864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BD7E2-F249-031F-7CF5-59C618C35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396A8B4-526E-D29A-71AE-F1E75D7F7B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2EE225-7B0D-69C6-1835-4F4670CE8E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F0307-C1E9-9462-1D7B-6444728E397A}"/>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6" name="Footer Placeholder 5">
            <a:extLst>
              <a:ext uri="{FF2B5EF4-FFF2-40B4-BE49-F238E27FC236}">
                <a16:creationId xmlns:a16="http://schemas.microsoft.com/office/drawing/2014/main" id="{80362E18-B4E5-895E-0A5B-2E0782BD17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0DADE-6572-5172-3425-AFBBE5D8953E}"/>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57064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9DD61-4A30-15E4-9306-3213D6F8B8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7073FE-D265-E69E-8D84-1D18E4083E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BFF4B6-435D-3D39-57E7-861479DF8425}"/>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CAE41420-8104-FA8A-5202-BBE811720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66B812-6596-D340-BF9D-EA266EB44839}"/>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4138561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CF8611-98A1-0B48-FB40-68712AC51D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4F7811-315F-236B-B4A1-ED78524715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FA3095-D768-F75F-8B89-12D9EB3C3CE9}"/>
              </a:ext>
            </a:extLst>
          </p:cNvPr>
          <p:cNvSpPr>
            <a:spLocks noGrp="1"/>
          </p:cNvSpPr>
          <p:nvPr>
            <p:ph type="dt" sz="half" idx="10"/>
          </p:nvPr>
        </p:nvSpPr>
        <p:spPr/>
        <p:txBody>
          <a:body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93D5F579-A031-A6C5-BA8C-DE7B138D02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F1B976-C3D4-36EC-83E3-A9BE49AC39B0}"/>
              </a:ext>
            </a:extLst>
          </p:cNvPr>
          <p:cNvSpPr>
            <a:spLocks noGrp="1"/>
          </p:cNvSpPr>
          <p:nvPr>
            <p:ph type="sldNum" sz="quarter" idx="12"/>
          </p:nvPr>
        </p:nvSpPr>
        <p:spPr/>
        <p:txBody>
          <a:bodyPr/>
          <a:lstStyle/>
          <a:p>
            <a:fld id="{A543816B-97EA-45C1-875A-AFFD9CDC0721}" type="slidenum">
              <a:rPr lang="en-IN" smtClean="0"/>
              <a:t>‹#›</a:t>
            </a:fld>
            <a:endParaRPr lang="en-IN"/>
          </a:p>
        </p:txBody>
      </p:sp>
    </p:spTree>
    <p:extLst>
      <p:ext uri="{BB962C8B-B14F-4D97-AF65-F5344CB8AC3E}">
        <p14:creationId xmlns:p14="http://schemas.microsoft.com/office/powerpoint/2010/main" val="3563901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C1F6E-5147-21EC-42A0-8B48E64B76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2DFB36-ECE6-4246-E23E-D8035889B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BE0DFA-6BE0-850F-0E59-09E766D616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18D73-F512-4A75-909A-47C4E249EAA9}" type="datetimeFigureOut">
              <a:rPr lang="en-IN" smtClean="0"/>
              <a:t>11-03-2026</a:t>
            </a:fld>
            <a:endParaRPr lang="en-IN"/>
          </a:p>
        </p:txBody>
      </p:sp>
      <p:sp>
        <p:nvSpPr>
          <p:cNvPr id="5" name="Footer Placeholder 4">
            <a:extLst>
              <a:ext uri="{FF2B5EF4-FFF2-40B4-BE49-F238E27FC236}">
                <a16:creationId xmlns:a16="http://schemas.microsoft.com/office/drawing/2014/main" id="{36CC2C16-6657-B978-11C7-FF0E62EE5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CE6953-CE9D-A22B-01C2-D14A8A0020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43816B-97EA-45C1-875A-AFFD9CDC0721}" type="slidenum">
              <a:rPr lang="en-IN" smtClean="0"/>
              <a:t>‹#›</a:t>
            </a:fld>
            <a:endParaRPr lang="en-IN"/>
          </a:p>
        </p:txBody>
      </p:sp>
    </p:spTree>
    <p:extLst>
      <p:ext uri="{BB962C8B-B14F-4D97-AF65-F5344CB8AC3E}">
        <p14:creationId xmlns:p14="http://schemas.microsoft.com/office/powerpoint/2010/main" val="35596654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71FF-2EA8-7A2B-CF33-0D944611C939}"/>
              </a:ext>
            </a:extLst>
          </p:cNvPr>
          <p:cNvSpPr>
            <a:spLocks noGrp="1"/>
          </p:cNvSpPr>
          <p:nvPr>
            <p:ph type="ctrTitle"/>
          </p:nvPr>
        </p:nvSpPr>
        <p:spPr>
          <a:xfrm>
            <a:off x="1524000" y="1854199"/>
            <a:ext cx="9144000" cy="1655763"/>
          </a:xfrm>
        </p:spPr>
        <p:txBody>
          <a:bodyPr>
            <a:normAutofit fontScale="90000"/>
          </a:bodyPr>
          <a:lstStyle/>
          <a:p>
            <a:r>
              <a:rPr lang="en-IN" dirty="0">
                <a:solidFill>
                  <a:schemeClr val="bg1"/>
                </a:solidFill>
              </a:rPr>
              <a:t>Automated Shoreline Extraction &amp; Temporal Change Analysis</a:t>
            </a:r>
          </a:p>
        </p:txBody>
      </p:sp>
      <p:sp>
        <p:nvSpPr>
          <p:cNvPr id="3" name="Subtitle 2">
            <a:extLst>
              <a:ext uri="{FF2B5EF4-FFF2-40B4-BE49-F238E27FC236}">
                <a16:creationId xmlns:a16="http://schemas.microsoft.com/office/drawing/2014/main" id="{43120486-8B54-01D2-9885-119B89ED7274}"/>
              </a:ext>
            </a:extLst>
          </p:cNvPr>
          <p:cNvSpPr>
            <a:spLocks noGrp="1"/>
          </p:cNvSpPr>
          <p:nvPr>
            <p:ph type="subTitle" idx="1"/>
          </p:nvPr>
        </p:nvSpPr>
        <p:spPr/>
        <p:txBody>
          <a:bodyPr/>
          <a:lstStyle/>
          <a:p>
            <a:r>
              <a:rPr lang="en-US" dirty="0">
                <a:solidFill>
                  <a:schemeClr val="bg1"/>
                </a:solidFill>
              </a:rPr>
              <a:t>A Python-Based Geospatial Pipeline for Coastal Monitoring</a:t>
            </a:r>
            <a:endParaRPr lang="en-IN" dirty="0">
              <a:solidFill>
                <a:schemeClr val="bg1"/>
              </a:solidFill>
            </a:endParaRPr>
          </a:p>
        </p:txBody>
      </p:sp>
      <p:pic>
        <p:nvPicPr>
          <p:cNvPr id="4" name="Google Shape;106;p2" title="New C-DAC logo JPG.jpg">
            <a:extLst>
              <a:ext uri="{FF2B5EF4-FFF2-40B4-BE49-F238E27FC236}">
                <a16:creationId xmlns:a16="http://schemas.microsoft.com/office/drawing/2014/main" id="{9E44D665-758F-42AC-7F67-9989D4AE5F0B}"/>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6" name="TextBox 5">
            <a:extLst>
              <a:ext uri="{FF2B5EF4-FFF2-40B4-BE49-F238E27FC236}">
                <a16:creationId xmlns:a16="http://schemas.microsoft.com/office/drawing/2014/main" id="{A9B4539C-A1C6-A26C-0DD7-1AC3892AB97F}"/>
              </a:ext>
            </a:extLst>
          </p:cNvPr>
          <p:cNvSpPr txBox="1"/>
          <p:nvPr/>
        </p:nvSpPr>
        <p:spPr>
          <a:xfrm>
            <a:off x="368231" y="5196471"/>
            <a:ext cx="3581977" cy="1200329"/>
          </a:xfrm>
          <a:prstGeom prst="rect">
            <a:avLst/>
          </a:prstGeom>
          <a:noFill/>
        </p:spPr>
        <p:txBody>
          <a:bodyPr wrap="square" rtlCol="0">
            <a:spAutoFit/>
          </a:bodyPr>
          <a:lstStyle/>
          <a:p>
            <a:r>
              <a:rPr lang="en-IN" dirty="0">
                <a:solidFill>
                  <a:schemeClr val="bg1"/>
                </a:solidFill>
              </a:rPr>
              <a:t>Anup Bagde &amp; Girishchandra Yendargaye</a:t>
            </a:r>
            <a:br>
              <a:rPr lang="en-IN" dirty="0">
                <a:solidFill>
                  <a:schemeClr val="bg1"/>
                </a:solidFill>
              </a:rPr>
            </a:br>
            <a:r>
              <a:rPr lang="en-IN" dirty="0">
                <a:solidFill>
                  <a:schemeClr val="bg1"/>
                </a:solidFill>
              </a:rPr>
              <a:t>Centre for Development of Advanced Computing (CDAC), Pune</a:t>
            </a:r>
          </a:p>
        </p:txBody>
      </p:sp>
      <p:sp>
        <p:nvSpPr>
          <p:cNvPr id="7" name="TextBox 6">
            <a:extLst>
              <a:ext uri="{FF2B5EF4-FFF2-40B4-BE49-F238E27FC236}">
                <a16:creationId xmlns:a16="http://schemas.microsoft.com/office/drawing/2014/main" id="{5F044DE8-65EF-D43E-D6AC-5F87C90C19C1}"/>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5" name="TextBox 4">
            <a:extLst>
              <a:ext uri="{FF2B5EF4-FFF2-40B4-BE49-F238E27FC236}">
                <a16:creationId xmlns:a16="http://schemas.microsoft.com/office/drawing/2014/main" id="{1B472C9D-ADF6-716D-EFC1-80B73EF7F725}"/>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4090379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71CE8-6BBF-D146-661F-FB92E67C55BA}"/>
              </a:ext>
            </a:extLst>
          </p:cNvPr>
          <p:cNvSpPr>
            <a:spLocks noGrp="1"/>
          </p:cNvSpPr>
          <p:nvPr>
            <p:ph type="title"/>
          </p:nvPr>
        </p:nvSpPr>
        <p:spPr>
          <a:xfrm>
            <a:off x="838198" y="275373"/>
            <a:ext cx="10933177" cy="867627"/>
          </a:xfrm>
        </p:spPr>
        <p:txBody>
          <a:bodyPr>
            <a:normAutofit/>
          </a:bodyPr>
          <a:lstStyle/>
          <a:p>
            <a:pPr algn="ctr"/>
            <a:r>
              <a:rPr lang="en-IN" sz="4000" dirty="0">
                <a:solidFill>
                  <a:schemeClr val="bg1"/>
                </a:solidFill>
              </a:rPr>
              <a:t>Problem Statement &amp; Objectives</a:t>
            </a:r>
          </a:p>
        </p:txBody>
      </p:sp>
      <p:sp>
        <p:nvSpPr>
          <p:cNvPr id="3" name="Content Placeholder 2">
            <a:extLst>
              <a:ext uri="{FF2B5EF4-FFF2-40B4-BE49-F238E27FC236}">
                <a16:creationId xmlns:a16="http://schemas.microsoft.com/office/drawing/2014/main" id="{29171119-B9AE-D3E5-1E78-7B48E4C52983}"/>
              </a:ext>
            </a:extLst>
          </p:cNvPr>
          <p:cNvSpPr>
            <a:spLocks noGrp="1"/>
          </p:cNvSpPr>
          <p:nvPr>
            <p:ph idx="1"/>
          </p:nvPr>
        </p:nvSpPr>
        <p:spPr>
          <a:xfrm>
            <a:off x="708660" y="1597025"/>
            <a:ext cx="5257800" cy="3121279"/>
          </a:xfrm>
        </p:spPr>
        <p:txBody>
          <a:bodyPr>
            <a:normAutofit/>
          </a:bodyPr>
          <a:lstStyle/>
          <a:p>
            <a:pPr marL="0" indent="0">
              <a:buNone/>
            </a:pPr>
            <a:r>
              <a:rPr lang="en-IN" sz="2000" dirty="0">
                <a:solidFill>
                  <a:schemeClr val="bg1"/>
                </a:solidFill>
              </a:rPr>
              <a:t>What Was Asked</a:t>
            </a:r>
          </a:p>
          <a:p>
            <a:r>
              <a:rPr lang="en-IN" sz="2000" dirty="0">
                <a:solidFill>
                  <a:schemeClr val="bg1"/>
                </a:solidFill>
              </a:rPr>
              <a:t>Automated shoreline extraction from multi-temporal imagery</a:t>
            </a:r>
          </a:p>
          <a:p>
            <a:r>
              <a:rPr lang="en-IN" sz="2000" dirty="0">
                <a:solidFill>
                  <a:schemeClr val="bg1"/>
                </a:solidFill>
              </a:rPr>
              <a:t>Account for tidal variations (HTL/LTL)</a:t>
            </a:r>
          </a:p>
          <a:p>
            <a:r>
              <a:rPr lang="en-IN" sz="2000" dirty="0">
                <a:solidFill>
                  <a:schemeClr val="bg1"/>
                </a:solidFill>
              </a:rPr>
              <a:t>Monitor shoreline change over time</a:t>
            </a:r>
          </a:p>
          <a:p>
            <a:r>
              <a:rPr lang="en-IN" sz="2000" dirty="0">
                <a:solidFill>
                  <a:schemeClr val="bg1"/>
                </a:solidFill>
              </a:rPr>
              <a:t>Validate against beach profile data</a:t>
            </a:r>
          </a:p>
          <a:p>
            <a:r>
              <a:rPr lang="en-IN" sz="2000" dirty="0">
                <a:solidFill>
                  <a:schemeClr val="bg1"/>
                </a:solidFill>
              </a:rPr>
              <a:t>Output: time-series maps, change statistics, validation reports</a:t>
            </a:r>
          </a:p>
        </p:txBody>
      </p:sp>
      <p:sp>
        <p:nvSpPr>
          <p:cNvPr id="4" name="Content Placeholder 2">
            <a:extLst>
              <a:ext uri="{FF2B5EF4-FFF2-40B4-BE49-F238E27FC236}">
                <a16:creationId xmlns:a16="http://schemas.microsoft.com/office/drawing/2014/main" id="{B1F8BA06-9031-4203-2B07-8E94D31D0FFF}"/>
              </a:ext>
            </a:extLst>
          </p:cNvPr>
          <p:cNvSpPr txBox="1">
            <a:spLocks/>
          </p:cNvSpPr>
          <p:nvPr/>
        </p:nvSpPr>
        <p:spPr>
          <a:xfrm>
            <a:off x="6623304" y="1459865"/>
            <a:ext cx="5257800" cy="27920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IN" sz="2000" dirty="0">
                <a:solidFill>
                  <a:schemeClr val="bg1"/>
                </a:solidFill>
              </a:rPr>
              <a:t>What We Addressed</a:t>
            </a:r>
          </a:p>
          <a:p>
            <a:r>
              <a:rPr lang="en-IN" sz="2000" dirty="0">
                <a:solidFill>
                  <a:schemeClr val="bg1"/>
                </a:solidFill>
              </a:rPr>
              <a:t>✅ Automated extraction via NDWI pipeline</a:t>
            </a:r>
          </a:p>
          <a:p>
            <a:r>
              <a:rPr lang="en-IN" sz="2000" dirty="0">
                <a:solidFill>
                  <a:schemeClr val="bg1"/>
                </a:solidFill>
              </a:rPr>
              <a:t>✅ Multi-temporal change detection (Apr, May, Aug 2023)</a:t>
            </a:r>
          </a:p>
          <a:p>
            <a:r>
              <a:rPr lang="en-IN" sz="2000" dirty="0">
                <a:solidFill>
                  <a:schemeClr val="bg1"/>
                </a:solidFill>
              </a:rPr>
              <a:t>✅ Validated at 4 GPS reference locations</a:t>
            </a:r>
          </a:p>
          <a:p>
            <a:r>
              <a:rPr lang="en-US" sz="2000" dirty="0">
                <a:solidFill>
                  <a:schemeClr val="bg1"/>
                </a:solidFill>
              </a:rPr>
              <a:t>⚠️ Tidal correction and normalization - not implemented (planned)</a:t>
            </a:r>
            <a:endParaRPr lang="en-IN" sz="2000" dirty="0">
              <a:solidFill>
                <a:schemeClr val="bg1"/>
              </a:solidFill>
            </a:endParaRPr>
          </a:p>
        </p:txBody>
      </p:sp>
      <p:pic>
        <p:nvPicPr>
          <p:cNvPr id="5" name="Google Shape;106;p2" title="New C-DAC logo JPG.jpg">
            <a:extLst>
              <a:ext uri="{FF2B5EF4-FFF2-40B4-BE49-F238E27FC236}">
                <a16:creationId xmlns:a16="http://schemas.microsoft.com/office/drawing/2014/main" id="{5D235F1A-A41C-DC9F-3EC6-1D8BAC53B549}"/>
              </a:ext>
            </a:extLst>
          </p:cNvPr>
          <p:cNvPicPr preferRelativeResize="0"/>
          <p:nvPr/>
        </p:nvPicPr>
        <p:blipFill>
          <a:blip r:embed="rId3">
            <a:alphaModFix/>
          </a:blip>
          <a:stretch>
            <a:fillRect/>
          </a:stretch>
        </p:blipFill>
        <p:spPr>
          <a:xfrm>
            <a:off x="335103" y="253347"/>
            <a:ext cx="1006193" cy="711421"/>
          </a:xfrm>
          <a:prstGeom prst="rect">
            <a:avLst/>
          </a:prstGeom>
          <a:noFill/>
          <a:ln>
            <a:noFill/>
          </a:ln>
        </p:spPr>
      </p:pic>
      <p:sp>
        <p:nvSpPr>
          <p:cNvPr id="6" name="TextBox 5">
            <a:extLst>
              <a:ext uri="{FF2B5EF4-FFF2-40B4-BE49-F238E27FC236}">
                <a16:creationId xmlns:a16="http://schemas.microsoft.com/office/drawing/2014/main" id="{8A916B43-A383-FD37-D959-E9F122114883}"/>
              </a:ext>
            </a:extLst>
          </p:cNvPr>
          <p:cNvSpPr txBox="1"/>
          <p:nvPr/>
        </p:nvSpPr>
        <p:spPr>
          <a:xfrm>
            <a:off x="10640569" y="6203914"/>
            <a:ext cx="1551431" cy="369332"/>
          </a:xfrm>
          <a:prstGeom prst="rect">
            <a:avLst/>
          </a:prstGeom>
          <a:noFill/>
        </p:spPr>
        <p:txBody>
          <a:bodyPr wrap="square" rtlCol="0">
            <a:spAutoFit/>
          </a:bodyPr>
          <a:lstStyle/>
          <a:p>
            <a:r>
              <a:rPr lang="en-IN" dirty="0">
                <a:solidFill>
                  <a:schemeClr val="bg1"/>
                </a:solidFill>
              </a:rPr>
              <a:t>March 2026</a:t>
            </a:r>
          </a:p>
        </p:txBody>
      </p:sp>
      <p:sp>
        <p:nvSpPr>
          <p:cNvPr id="7" name="TextBox 6">
            <a:extLst>
              <a:ext uri="{FF2B5EF4-FFF2-40B4-BE49-F238E27FC236}">
                <a16:creationId xmlns:a16="http://schemas.microsoft.com/office/drawing/2014/main" id="{9CD979DB-661E-C3DC-1DE6-FF2F50A4B466}"/>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423592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Effect transition="in" filter="fade">
                                      <p:cBhvr>
                                        <p:cTn id="31" dur="500"/>
                                        <p:tgtEl>
                                          <p:spTgt spid="4">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Effect transition="in" filter="fade">
                                      <p:cBhvr>
                                        <p:cTn id="36" dur="500"/>
                                        <p:tgtEl>
                                          <p:spTgt spid="4">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Effect transition="in" filter="fade">
                                      <p:cBhvr>
                                        <p:cTn id="41" dur="500"/>
                                        <p:tgtEl>
                                          <p:spTgt spid="4">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
                                            <p:txEl>
                                              <p:pRg st="3" end="3"/>
                                            </p:txEl>
                                          </p:spTgt>
                                        </p:tgtEl>
                                        <p:attrNameLst>
                                          <p:attrName>style.visibility</p:attrName>
                                        </p:attrNameLst>
                                      </p:cBhvr>
                                      <p:to>
                                        <p:strVal val="visible"/>
                                      </p:to>
                                    </p:set>
                                    <p:animEffect transition="in" filter="fade">
                                      <p:cBhvr>
                                        <p:cTn id="46" dur="500"/>
                                        <p:tgtEl>
                                          <p:spTgt spid="4">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
                                            <p:txEl>
                                              <p:pRg st="4" end="4"/>
                                            </p:txEl>
                                          </p:spTgt>
                                        </p:tgtEl>
                                        <p:attrNameLst>
                                          <p:attrName>style.visibility</p:attrName>
                                        </p:attrNameLst>
                                      </p:cBhvr>
                                      <p:to>
                                        <p:strVal val="visible"/>
                                      </p:to>
                                    </p:set>
                                    <p:animEffect transition="in" filter="fade">
                                      <p:cBhvr>
                                        <p:cTn id="5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C3D21440-A6A5-BA2C-A10E-A462EECBE88D}"/>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1B500454-BD80-EAEA-EE39-2E11FF1D87A6}"/>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826B0EDB-B631-3222-D296-8876A7C918E3}"/>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09B46501-0B8C-B39A-7CFE-C95EF69CA359}"/>
              </a:ext>
            </a:extLst>
          </p:cNvPr>
          <p:cNvSpPr txBox="1">
            <a:spLocks/>
          </p:cNvSpPr>
          <p:nvPr/>
        </p:nvSpPr>
        <p:spPr>
          <a:xfrm>
            <a:off x="720627" y="367376"/>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Data &amp; Inputs</a:t>
            </a:r>
          </a:p>
        </p:txBody>
      </p:sp>
      <p:sp>
        <p:nvSpPr>
          <p:cNvPr id="14" name="Content Placeholder 2">
            <a:extLst>
              <a:ext uri="{FF2B5EF4-FFF2-40B4-BE49-F238E27FC236}">
                <a16:creationId xmlns:a16="http://schemas.microsoft.com/office/drawing/2014/main" id="{A5639070-0A95-91D4-3CDC-0CC8AF8FA59F}"/>
              </a:ext>
            </a:extLst>
          </p:cNvPr>
          <p:cNvSpPr txBox="1">
            <a:spLocks/>
          </p:cNvSpPr>
          <p:nvPr/>
        </p:nvSpPr>
        <p:spPr>
          <a:xfrm>
            <a:off x="1063939" y="1180873"/>
            <a:ext cx="3671316" cy="22800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Satellite Imagery</a:t>
            </a:r>
          </a:p>
          <a:p>
            <a:pPr marL="342900" indent="-342900" algn="l">
              <a:buFont typeface="Arial" panose="020B0604020202020204" pitchFamily="34" charset="0"/>
              <a:buChar char="•"/>
            </a:pPr>
            <a:r>
              <a:rPr lang="en-US" sz="1800" dirty="0">
                <a:solidFill>
                  <a:schemeClr val="bg1"/>
                </a:solidFill>
              </a:rPr>
              <a:t>Landsat 8 Level-2 Surface Reflectance</a:t>
            </a:r>
          </a:p>
          <a:p>
            <a:pPr marL="342900" indent="-342900" algn="l">
              <a:buFont typeface="Arial" panose="020B0604020202020204" pitchFamily="34" charset="0"/>
              <a:buChar char="•"/>
            </a:pPr>
            <a:r>
              <a:rPr lang="en-US" sz="1800" dirty="0">
                <a:solidFill>
                  <a:schemeClr val="bg1"/>
                </a:solidFill>
              </a:rPr>
              <a:t>Bands: Green (B3) + NIR (B5)</a:t>
            </a:r>
          </a:p>
          <a:p>
            <a:pPr marL="342900" indent="-342900" algn="l">
              <a:buFont typeface="Arial" panose="020B0604020202020204" pitchFamily="34" charset="0"/>
              <a:buChar char="•"/>
            </a:pPr>
            <a:r>
              <a:rPr lang="en-US" sz="1800" dirty="0">
                <a:solidFill>
                  <a:schemeClr val="bg1"/>
                </a:solidFill>
              </a:rPr>
              <a:t>Resolution: 30m</a:t>
            </a:r>
          </a:p>
        </p:txBody>
      </p:sp>
      <p:sp>
        <p:nvSpPr>
          <p:cNvPr id="15" name="Content Placeholder 2">
            <a:extLst>
              <a:ext uri="{FF2B5EF4-FFF2-40B4-BE49-F238E27FC236}">
                <a16:creationId xmlns:a16="http://schemas.microsoft.com/office/drawing/2014/main" id="{1A50E529-E178-83CB-5D0A-59948657F26B}"/>
              </a:ext>
            </a:extLst>
          </p:cNvPr>
          <p:cNvSpPr txBox="1">
            <a:spLocks/>
          </p:cNvSpPr>
          <p:nvPr/>
        </p:nvSpPr>
        <p:spPr>
          <a:xfrm>
            <a:off x="6860100" y="1078798"/>
            <a:ext cx="4963668" cy="32706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Temporal Coverage</a:t>
            </a:r>
          </a:p>
          <a:p>
            <a:pPr marL="342900" indent="-342900" algn="l">
              <a:buFont typeface="Arial" panose="020B0604020202020204" pitchFamily="34" charset="0"/>
              <a:buChar char="•"/>
            </a:pPr>
            <a:r>
              <a:rPr lang="en-US" sz="1800" dirty="0">
                <a:solidFill>
                  <a:schemeClr val="bg1"/>
                </a:solidFill>
              </a:rPr>
              <a:t>April 18, 2023</a:t>
            </a:r>
          </a:p>
          <a:p>
            <a:pPr marL="342900" indent="-342900" algn="l">
              <a:buFont typeface="Arial" panose="020B0604020202020204" pitchFamily="34" charset="0"/>
              <a:buChar char="•"/>
            </a:pPr>
            <a:r>
              <a:rPr lang="en-US" sz="1800" dirty="0">
                <a:solidFill>
                  <a:schemeClr val="bg1"/>
                </a:solidFill>
              </a:rPr>
              <a:t>May 20, 2023</a:t>
            </a:r>
          </a:p>
          <a:p>
            <a:pPr marL="342900" indent="-342900" algn="l">
              <a:buFont typeface="Arial" panose="020B0604020202020204" pitchFamily="34" charset="0"/>
              <a:buChar char="•"/>
            </a:pPr>
            <a:r>
              <a:rPr lang="en-US" sz="1800" dirty="0">
                <a:solidFill>
                  <a:schemeClr val="bg1"/>
                </a:solidFill>
              </a:rPr>
              <a:t>August 24, 2023</a:t>
            </a:r>
          </a:p>
          <a:p>
            <a:pPr marL="342900" indent="-342900" algn="l">
              <a:buFont typeface="Arial" panose="020B0604020202020204" pitchFamily="34" charset="0"/>
              <a:buChar char="•"/>
            </a:pPr>
            <a:r>
              <a:rPr lang="en-US" sz="1800" dirty="0">
                <a:solidFill>
                  <a:schemeClr val="bg1"/>
                </a:solidFill>
              </a:rPr>
              <a:t>Cloud cover: 0% (all scenes)</a:t>
            </a:r>
          </a:p>
          <a:p>
            <a:pPr marL="342900" indent="-342900" algn="l">
              <a:buFont typeface="Arial" panose="020B0604020202020204" pitchFamily="34" charset="0"/>
              <a:buChar char="•"/>
            </a:pPr>
            <a:r>
              <a:rPr lang="en-US" sz="1800" dirty="0">
                <a:solidFill>
                  <a:schemeClr val="bg1"/>
                </a:solidFill>
              </a:rPr>
              <a:t>⚠️ Sep, Oct, Nov excluded per problem statement. Jun, Jul</a:t>
            </a:r>
            <a:r>
              <a:rPr lang="en-US" sz="1800">
                <a:solidFill>
                  <a:schemeClr val="bg1"/>
                </a:solidFill>
              </a:rPr>
              <a:t>, Dec - Mar </a:t>
            </a:r>
            <a:r>
              <a:rPr lang="en-US" sz="1800" dirty="0">
                <a:solidFill>
                  <a:schemeClr val="bg1"/>
                </a:solidFill>
              </a:rPr>
              <a:t>unavailable due to cloud cover</a:t>
            </a:r>
          </a:p>
        </p:txBody>
      </p:sp>
      <p:sp>
        <p:nvSpPr>
          <p:cNvPr id="16" name="Content Placeholder 2">
            <a:extLst>
              <a:ext uri="{FF2B5EF4-FFF2-40B4-BE49-F238E27FC236}">
                <a16:creationId xmlns:a16="http://schemas.microsoft.com/office/drawing/2014/main" id="{F1E3135F-4BEA-D57F-7604-3A7EF2B2BDAF}"/>
              </a:ext>
            </a:extLst>
          </p:cNvPr>
          <p:cNvSpPr txBox="1">
            <a:spLocks/>
          </p:cNvSpPr>
          <p:nvPr/>
        </p:nvSpPr>
        <p:spPr>
          <a:xfrm>
            <a:off x="6860100" y="4239701"/>
            <a:ext cx="3671316" cy="18718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Reference &amp; Validation Data</a:t>
            </a:r>
          </a:p>
          <a:p>
            <a:pPr marL="342900" indent="-342900" algn="l">
              <a:buFont typeface="Arial" panose="020B0604020202020204" pitchFamily="34" charset="0"/>
              <a:buChar char="•"/>
            </a:pPr>
            <a:r>
              <a:rPr lang="en-US" sz="1800" dirty="0">
                <a:solidFill>
                  <a:schemeClr val="bg1"/>
                </a:solidFill>
              </a:rPr>
              <a:t>AOI polygon (study extent)</a:t>
            </a:r>
          </a:p>
          <a:p>
            <a:pPr marL="342900" indent="-342900" algn="l">
              <a:buFont typeface="Arial" panose="020B0604020202020204" pitchFamily="34" charset="0"/>
              <a:buChar char="•"/>
            </a:pPr>
            <a:r>
              <a:rPr lang="en-US" sz="1800" dirty="0">
                <a:solidFill>
                  <a:schemeClr val="bg1"/>
                </a:solidFill>
              </a:rPr>
              <a:t>4 GPS beach reference points</a:t>
            </a:r>
          </a:p>
          <a:p>
            <a:pPr marL="342900" indent="-342900" algn="l">
              <a:buFont typeface="Arial" panose="020B0604020202020204" pitchFamily="34" charset="0"/>
              <a:buChar char="•"/>
            </a:pPr>
            <a:r>
              <a:rPr lang="en-US" sz="1800" dirty="0">
                <a:solidFill>
                  <a:schemeClr val="bg1"/>
                </a:solidFill>
              </a:rPr>
              <a:t>Single-date beach profiles</a:t>
            </a:r>
          </a:p>
        </p:txBody>
      </p:sp>
      <p:sp>
        <p:nvSpPr>
          <p:cNvPr id="2" name="TextBox 1">
            <a:extLst>
              <a:ext uri="{FF2B5EF4-FFF2-40B4-BE49-F238E27FC236}">
                <a16:creationId xmlns:a16="http://schemas.microsoft.com/office/drawing/2014/main" id="{3A863112-C884-3CEF-AA2A-EE3315D5CD73}"/>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pic>
        <p:nvPicPr>
          <p:cNvPr id="9" name="Picture 8">
            <a:extLst>
              <a:ext uri="{FF2B5EF4-FFF2-40B4-BE49-F238E27FC236}">
                <a16:creationId xmlns:a16="http://schemas.microsoft.com/office/drawing/2014/main" id="{B24E3321-95FD-E7C2-A412-D6F7A47D7953}"/>
              </a:ext>
            </a:extLst>
          </p:cNvPr>
          <p:cNvPicPr>
            <a:picLocks noChangeAspect="1"/>
          </p:cNvPicPr>
          <p:nvPr/>
        </p:nvPicPr>
        <p:blipFill>
          <a:blip r:embed="rId4"/>
          <a:stretch>
            <a:fillRect/>
          </a:stretch>
        </p:blipFill>
        <p:spPr>
          <a:xfrm>
            <a:off x="642551" y="3392173"/>
            <a:ext cx="5757539" cy="2821453"/>
          </a:xfrm>
          <a:prstGeom prst="rect">
            <a:avLst/>
          </a:prstGeom>
        </p:spPr>
      </p:pic>
      <p:pic>
        <p:nvPicPr>
          <p:cNvPr id="12" name="Picture 11">
            <a:extLst>
              <a:ext uri="{FF2B5EF4-FFF2-40B4-BE49-F238E27FC236}">
                <a16:creationId xmlns:a16="http://schemas.microsoft.com/office/drawing/2014/main" id="{296D6765-B394-DBE5-B155-2D243AAC15D4}"/>
              </a:ext>
            </a:extLst>
          </p:cNvPr>
          <p:cNvPicPr>
            <a:picLocks noChangeAspect="1"/>
          </p:cNvPicPr>
          <p:nvPr/>
        </p:nvPicPr>
        <p:blipFill>
          <a:blip r:embed="rId5"/>
          <a:stretch>
            <a:fillRect/>
          </a:stretch>
        </p:blipFill>
        <p:spPr>
          <a:xfrm>
            <a:off x="642550" y="3382952"/>
            <a:ext cx="5757540" cy="2839893"/>
          </a:xfrm>
          <a:prstGeom prst="rect">
            <a:avLst/>
          </a:prstGeom>
        </p:spPr>
      </p:pic>
    </p:spTree>
    <p:extLst>
      <p:ext uri="{BB962C8B-B14F-4D97-AF65-F5344CB8AC3E}">
        <p14:creationId xmlns:p14="http://schemas.microsoft.com/office/powerpoint/2010/main" val="203822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15" grpId="0" build="p"/>
      <p:bldP spid="1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EB0E690F-5620-0B28-3241-CB8F4243F0BA}"/>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DBFDE0A7-8773-310E-530C-5ABBC76809EA}"/>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FEBA1F9C-F7CF-1A6D-F0A8-3366FD6C6C99}"/>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ED912326-D6F1-494A-3C69-C1E52146D59E}"/>
              </a:ext>
            </a:extLst>
          </p:cNvPr>
          <p:cNvSpPr txBox="1">
            <a:spLocks/>
          </p:cNvSpPr>
          <p:nvPr/>
        </p:nvSpPr>
        <p:spPr>
          <a:xfrm>
            <a:off x="458579" y="308196"/>
            <a:ext cx="11274840" cy="71142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Automated Processing Pipeline</a:t>
            </a:r>
          </a:p>
        </p:txBody>
      </p:sp>
      <p:graphicFrame>
        <p:nvGraphicFramePr>
          <p:cNvPr id="2" name="Diagram 1">
            <a:extLst>
              <a:ext uri="{FF2B5EF4-FFF2-40B4-BE49-F238E27FC236}">
                <a16:creationId xmlns:a16="http://schemas.microsoft.com/office/drawing/2014/main" id="{25199EAF-53D9-86B9-111B-DB2F8B1553AA}"/>
              </a:ext>
            </a:extLst>
          </p:cNvPr>
          <p:cNvGraphicFramePr/>
          <p:nvPr>
            <p:extLst>
              <p:ext uri="{D42A27DB-BD31-4B8C-83A1-F6EECF244321}">
                <p14:modId xmlns:p14="http://schemas.microsoft.com/office/powerpoint/2010/main" val="2967488906"/>
              </p:ext>
            </p:extLst>
          </p:nvPr>
        </p:nvGraphicFramePr>
        <p:xfrm>
          <a:off x="309083" y="1700784"/>
          <a:ext cx="11573833" cy="40782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5C075ED9-B79F-41E0-5D72-C8D9E384F8BF}"/>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145181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graphicEl>
                                              <a:dgm id="{E0DB30C3-ABFB-4DE0-96D1-D78247D7FD2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graphicEl>
                                              <a:dgm id="{2FED096A-0B4C-4C8A-979A-9C4C8ADAD801}"/>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graphicEl>
                                              <a:dgm id="{D7C4DD0F-B8D9-4D34-9BB2-74A6ACB867B1}"/>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graphicEl>
                                              <a:dgm id="{4E1FE22F-32FA-442C-AE34-E0801E1A007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graphicEl>
                                              <a:dgm id="{BFFB4B50-FCAC-47CB-9E9C-ECF87EC1FA6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graphicEl>
                                              <a:dgm id="{025684A9-E949-4D80-B997-DBEAC5F7D550}"/>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graphicEl>
                                              <a:dgm id="{891E7556-20EB-44E8-9FF8-890D44E9D730}"/>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graphicEl>
                                              <a:dgm id="{88256E93-E624-4A36-99E2-E76EC3534B9B}"/>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
                                            <p:graphicEl>
                                              <a:dgm id="{BE07BC75-9A49-444E-8743-DED5C6BBD42A}"/>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graphicEl>
                                              <a:dgm id="{9E023B2F-D156-47DF-BEC6-207A077F08EC}"/>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graphicEl>
                                              <a:dgm id="{47133BB8-4AFB-4226-BD1A-5F545112067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graphicEl>
                                              <a:dgm id="{37F3A03B-C7D7-4C29-BF49-B7AD3FEA5B2F}"/>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
                                            <p:graphicEl>
                                              <a:dgm id="{A7564505-3652-45E3-A221-33A0242918E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086A51EC-0961-B768-DBBF-22A32626EE8D}"/>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A0FAB760-4422-13DB-520E-C79715043CA4}"/>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C2545430-B096-954C-464F-C17FFEB31B5D}"/>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05C16A81-37D0-BD2F-4E51-4A591D798D68}"/>
              </a:ext>
            </a:extLst>
          </p:cNvPr>
          <p:cNvSpPr txBox="1">
            <a:spLocks/>
          </p:cNvSpPr>
          <p:nvPr/>
        </p:nvSpPr>
        <p:spPr>
          <a:xfrm>
            <a:off x="634746" y="271564"/>
            <a:ext cx="10922508" cy="6425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Results</a:t>
            </a:r>
          </a:p>
        </p:txBody>
      </p:sp>
      <p:pic>
        <p:nvPicPr>
          <p:cNvPr id="3" name="Picture 2">
            <a:extLst>
              <a:ext uri="{FF2B5EF4-FFF2-40B4-BE49-F238E27FC236}">
                <a16:creationId xmlns:a16="http://schemas.microsoft.com/office/drawing/2014/main" id="{596942A7-75F1-8676-97BB-20D31301F8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8606" y="1255781"/>
            <a:ext cx="6659658" cy="4709425"/>
          </a:xfrm>
          <a:prstGeom prst="rect">
            <a:avLst/>
          </a:prstGeom>
        </p:spPr>
      </p:pic>
      <p:graphicFrame>
        <p:nvGraphicFramePr>
          <p:cNvPr id="5" name="Table 4">
            <a:extLst>
              <a:ext uri="{FF2B5EF4-FFF2-40B4-BE49-F238E27FC236}">
                <a16:creationId xmlns:a16="http://schemas.microsoft.com/office/drawing/2014/main" id="{B39D7641-6175-11B6-F0B9-C60ECCCC4FF0}"/>
              </a:ext>
            </a:extLst>
          </p:cNvPr>
          <p:cNvGraphicFramePr>
            <a:graphicFrameLocks noGrp="1"/>
          </p:cNvGraphicFramePr>
          <p:nvPr>
            <p:extLst>
              <p:ext uri="{D42A27DB-BD31-4B8C-83A1-F6EECF244321}">
                <p14:modId xmlns:p14="http://schemas.microsoft.com/office/powerpoint/2010/main" val="2281071528"/>
              </p:ext>
            </p:extLst>
          </p:nvPr>
        </p:nvGraphicFramePr>
        <p:xfrm>
          <a:off x="634746" y="1560914"/>
          <a:ext cx="4357878" cy="1483360"/>
        </p:xfrm>
        <a:graphic>
          <a:graphicData uri="http://schemas.openxmlformats.org/drawingml/2006/table">
            <a:tbl>
              <a:tblPr firstRow="1" bandRow="1">
                <a:tableStyleId>{21E4AEA4-8DFA-4A89-87EB-49C32662AFE0}</a:tableStyleId>
              </a:tblPr>
              <a:tblGrid>
                <a:gridCol w="2178939">
                  <a:extLst>
                    <a:ext uri="{9D8B030D-6E8A-4147-A177-3AD203B41FA5}">
                      <a16:colId xmlns:a16="http://schemas.microsoft.com/office/drawing/2014/main" val="2632258997"/>
                    </a:ext>
                  </a:extLst>
                </a:gridCol>
                <a:gridCol w="2178939">
                  <a:extLst>
                    <a:ext uri="{9D8B030D-6E8A-4147-A177-3AD203B41FA5}">
                      <a16:colId xmlns:a16="http://schemas.microsoft.com/office/drawing/2014/main" val="1336773973"/>
                    </a:ext>
                  </a:extLst>
                </a:gridCol>
              </a:tblGrid>
              <a:tr h="370840">
                <a:tc>
                  <a:txBody>
                    <a:bodyPr/>
                    <a:lstStyle/>
                    <a:p>
                      <a:r>
                        <a:rPr lang="en-IN" dirty="0"/>
                        <a:t>Month</a:t>
                      </a:r>
                    </a:p>
                  </a:txBody>
                  <a:tcPr/>
                </a:tc>
                <a:tc>
                  <a:txBody>
                    <a:bodyPr/>
                    <a:lstStyle/>
                    <a:p>
                      <a:r>
                        <a:rPr lang="en-IN" dirty="0"/>
                        <a:t>Length</a:t>
                      </a:r>
                    </a:p>
                  </a:txBody>
                  <a:tcPr/>
                </a:tc>
                <a:extLst>
                  <a:ext uri="{0D108BD9-81ED-4DB2-BD59-A6C34878D82A}">
                    <a16:rowId xmlns:a16="http://schemas.microsoft.com/office/drawing/2014/main" val="3209855819"/>
                  </a:ext>
                </a:extLst>
              </a:tr>
              <a:tr h="370840">
                <a:tc>
                  <a:txBody>
                    <a:bodyPr/>
                    <a:lstStyle/>
                    <a:p>
                      <a:r>
                        <a:rPr lang="en-IN" dirty="0"/>
                        <a:t>April 2023</a:t>
                      </a:r>
                    </a:p>
                  </a:txBody>
                  <a:tcPr/>
                </a:tc>
                <a:tc>
                  <a:txBody>
                    <a:bodyPr/>
                    <a:lstStyle/>
                    <a:p>
                      <a:r>
                        <a:rPr lang="en-IN" dirty="0"/>
                        <a:t>99,720 m</a:t>
                      </a:r>
                    </a:p>
                  </a:txBody>
                  <a:tcPr/>
                </a:tc>
                <a:extLst>
                  <a:ext uri="{0D108BD9-81ED-4DB2-BD59-A6C34878D82A}">
                    <a16:rowId xmlns:a16="http://schemas.microsoft.com/office/drawing/2014/main" val="3973845936"/>
                  </a:ext>
                </a:extLst>
              </a:tr>
              <a:tr h="370840">
                <a:tc>
                  <a:txBody>
                    <a:bodyPr/>
                    <a:lstStyle/>
                    <a:p>
                      <a:r>
                        <a:rPr lang="en-IN" dirty="0"/>
                        <a:t>May 2023</a:t>
                      </a:r>
                    </a:p>
                  </a:txBody>
                  <a:tcPr/>
                </a:tc>
                <a:tc>
                  <a:txBody>
                    <a:bodyPr/>
                    <a:lstStyle/>
                    <a:p>
                      <a:r>
                        <a:rPr lang="en-IN" dirty="0"/>
                        <a:t>96,501 m</a:t>
                      </a:r>
                    </a:p>
                  </a:txBody>
                  <a:tcPr/>
                </a:tc>
                <a:extLst>
                  <a:ext uri="{0D108BD9-81ED-4DB2-BD59-A6C34878D82A}">
                    <a16:rowId xmlns:a16="http://schemas.microsoft.com/office/drawing/2014/main" val="1969332788"/>
                  </a:ext>
                </a:extLst>
              </a:tr>
              <a:tr h="370840">
                <a:tc>
                  <a:txBody>
                    <a:bodyPr/>
                    <a:lstStyle/>
                    <a:p>
                      <a:r>
                        <a:rPr lang="en-IN" dirty="0"/>
                        <a:t>August 2023</a:t>
                      </a:r>
                    </a:p>
                  </a:txBody>
                  <a:tcPr/>
                </a:tc>
                <a:tc>
                  <a:txBody>
                    <a:bodyPr/>
                    <a:lstStyle/>
                    <a:p>
                      <a:r>
                        <a:rPr lang="en-IN" dirty="0"/>
                        <a:t>97,358 m</a:t>
                      </a:r>
                    </a:p>
                  </a:txBody>
                  <a:tcPr/>
                </a:tc>
                <a:extLst>
                  <a:ext uri="{0D108BD9-81ED-4DB2-BD59-A6C34878D82A}">
                    <a16:rowId xmlns:a16="http://schemas.microsoft.com/office/drawing/2014/main" val="3255325239"/>
                  </a:ext>
                </a:extLst>
              </a:tr>
            </a:tbl>
          </a:graphicData>
        </a:graphic>
      </p:graphicFrame>
      <p:sp>
        <p:nvSpPr>
          <p:cNvPr id="6" name="TextBox 5">
            <a:extLst>
              <a:ext uri="{FF2B5EF4-FFF2-40B4-BE49-F238E27FC236}">
                <a16:creationId xmlns:a16="http://schemas.microsoft.com/office/drawing/2014/main" id="{6B1A937A-4F95-D011-7CF1-0D247FD4A91E}"/>
              </a:ext>
            </a:extLst>
          </p:cNvPr>
          <p:cNvSpPr txBox="1"/>
          <p:nvPr/>
        </p:nvSpPr>
        <p:spPr>
          <a:xfrm>
            <a:off x="634746" y="1115481"/>
            <a:ext cx="2802370" cy="369332"/>
          </a:xfrm>
          <a:prstGeom prst="rect">
            <a:avLst/>
          </a:prstGeom>
          <a:noFill/>
        </p:spPr>
        <p:txBody>
          <a:bodyPr wrap="none" rtlCol="0">
            <a:spAutoFit/>
          </a:bodyPr>
          <a:lstStyle/>
          <a:p>
            <a:r>
              <a:rPr lang="en-IN" dirty="0">
                <a:solidFill>
                  <a:schemeClr val="bg1"/>
                </a:solidFill>
              </a:rPr>
              <a:t>Extracted Shoreline Lengths</a:t>
            </a:r>
          </a:p>
        </p:txBody>
      </p:sp>
      <p:sp>
        <p:nvSpPr>
          <p:cNvPr id="8" name="TextBox 7">
            <a:extLst>
              <a:ext uri="{FF2B5EF4-FFF2-40B4-BE49-F238E27FC236}">
                <a16:creationId xmlns:a16="http://schemas.microsoft.com/office/drawing/2014/main" id="{279D0221-4BA2-660B-5195-830982AD564B}"/>
              </a:ext>
            </a:extLst>
          </p:cNvPr>
          <p:cNvSpPr txBox="1"/>
          <p:nvPr/>
        </p:nvSpPr>
        <p:spPr>
          <a:xfrm>
            <a:off x="634746" y="3629061"/>
            <a:ext cx="3312766" cy="369332"/>
          </a:xfrm>
          <a:prstGeom prst="rect">
            <a:avLst/>
          </a:prstGeom>
          <a:noFill/>
        </p:spPr>
        <p:txBody>
          <a:bodyPr wrap="none" rtlCol="0">
            <a:spAutoFit/>
          </a:bodyPr>
          <a:lstStyle/>
          <a:p>
            <a:r>
              <a:rPr lang="en-IN" dirty="0">
                <a:solidFill>
                  <a:schemeClr val="bg1"/>
                </a:solidFill>
              </a:rPr>
              <a:t>Shoreline Change at Beach Points</a:t>
            </a:r>
          </a:p>
        </p:txBody>
      </p:sp>
      <p:graphicFrame>
        <p:nvGraphicFramePr>
          <p:cNvPr id="9" name="Table 8">
            <a:extLst>
              <a:ext uri="{FF2B5EF4-FFF2-40B4-BE49-F238E27FC236}">
                <a16:creationId xmlns:a16="http://schemas.microsoft.com/office/drawing/2014/main" id="{8FB11F8D-8DCB-5B5A-8B95-BF833E8B9322}"/>
              </a:ext>
            </a:extLst>
          </p:cNvPr>
          <p:cNvGraphicFramePr>
            <a:graphicFrameLocks noGrp="1"/>
          </p:cNvGraphicFramePr>
          <p:nvPr>
            <p:extLst>
              <p:ext uri="{D42A27DB-BD31-4B8C-83A1-F6EECF244321}">
                <p14:modId xmlns:p14="http://schemas.microsoft.com/office/powerpoint/2010/main" val="3576699960"/>
              </p:ext>
            </p:extLst>
          </p:nvPr>
        </p:nvGraphicFramePr>
        <p:xfrm>
          <a:off x="634746" y="4111006"/>
          <a:ext cx="4357878" cy="1854200"/>
        </p:xfrm>
        <a:graphic>
          <a:graphicData uri="http://schemas.openxmlformats.org/drawingml/2006/table">
            <a:tbl>
              <a:tblPr firstRow="1" bandRow="1">
                <a:tableStyleId>{93296810-A885-4BE3-A3E7-6D5BEEA58F35}</a:tableStyleId>
              </a:tblPr>
              <a:tblGrid>
                <a:gridCol w="2178939">
                  <a:extLst>
                    <a:ext uri="{9D8B030D-6E8A-4147-A177-3AD203B41FA5}">
                      <a16:colId xmlns:a16="http://schemas.microsoft.com/office/drawing/2014/main" val="2632258997"/>
                    </a:ext>
                  </a:extLst>
                </a:gridCol>
                <a:gridCol w="2178939">
                  <a:extLst>
                    <a:ext uri="{9D8B030D-6E8A-4147-A177-3AD203B41FA5}">
                      <a16:colId xmlns:a16="http://schemas.microsoft.com/office/drawing/2014/main" val="1336773973"/>
                    </a:ext>
                  </a:extLst>
                </a:gridCol>
              </a:tblGrid>
              <a:tr h="370840">
                <a:tc>
                  <a:txBody>
                    <a:bodyPr/>
                    <a:lstStyle/>
                    <a:p>
                      <a:r>
                        <a:rPr lang="en-IN" dirty="0"/>
                        <a:t>Location</a:t>
                      </a:r>
                    </a:p>
                  </a:txBody>
                  <a:tcPr/>
                </a:tc>
                <a:tc>
                  <a:txBody>
                    <a:bodyPr/>
                    <a:lstStyle/>
                    <a:p>
                      <a:r>
                        <a:rPr lang="en-IN" dirty="0"/>
                        <a:t>Max Change</a:t>
                      </a:r>
                    </a:p>
                  </a:txBody>
                  <a:tcPr/>
                </a:tc>
                <a:extLst>
                  <a:ext uri="{0D108BD9-81ED-4DB2-BD59-A6C34878D82A}">
                    <a16:rowId xmlns:a16="http://schemas.microsoft.com/office/drawing/2014/main" val="3209855819"/>
                  </a:ext>
                </a:extLst>
              </a:tr>
              <a:tr h="370840">
                <a:tc>
                  <a:txBody>
                    <a:bodyPr/>
                    <a:lstStyle/>
                    <a:p>
                      <a:r>
                        <a:rPr lang="en-IN" dirty="0" err="1"/>
                        <a:t>Keelvaipar</a:t>
                      </a:r>
                      <a:endParaRPr lang="en-IN" dirty="0"/>
                    </a:p>
                  </a:txBody>
                  <a:tcPr/>
                </a:tc>
                <a:tc>
                  <a:txBody>
                    <a:bodyPr/>
                    <a:lstStyle/>
                    <a:p>
                      <a:r>
                        <a:rPr lang="en-IN" dirty="0"/>
                        <a:t>10.69 m</a:t>
                      </a:r>
                    </a:p>
                  </a:txBody>
                  <a:tcPr/>
                </a:tc>
                <a:extLst>
                  <a:ext uri="{0D108BD9-81ED-4DB2-BD59-A6C34878D82A}">
                    <a16:rowId xmlns:a16="http://schemas.microsoft.com/office/drawing/2014/main" val="3973845936"/>
                  </a:ext>
                </a:extLst>
              </a:tr>
              <a:tr h="370840">
                <a:tc>
                  <a:txBody>
                    <a:bodyPr/>
                    <a:lstStyle/>
                    <a:p>
                      <a:r>
                        <a:rPr lang="en-IN" dirty="0" err="1"/>
                        <a:t>T.Mariyur</a:t>
                      </a:r>
                      <a:endParaRPr lang="en-IN" dirty="0"/>
                    </a:p>
                  </a:txBody>
                  <a:tcPr/>
                </a:tc>
                <a:tc>
                  <a:txBody>
                    <a:bodyPr/>
                    <a:lstStyle/>
                    <a:p>
                      <a:r>
                        <a:rPr lang="en-IN" dirty="0"/>
                        <a:t>~5-8 m</a:t>
                      </a:r>
                    </a:p>
                  </a:txBody>
                  <a:tcPr/>
                </a:tc>
                <a:extLst>
                  <a:ext uri="{0D108BD9-81ED-4DB2-BD59-A6C34878D82A}">
                    <a16:rowId xmlns:a16="http://schemas.microsoft.com/office/drawing/2014/main" val="1969332788"/>
                  </a:ext>
                </a:extLst>
              </a:tr>
              <a:tr h="370840">
                <a:tc>
                  <a:txBody>
                    <a:bodyPr/>
                    <a:lstStyle/>
                    <a:p>
                      <a:r>
                        <a:rPr lang="en-IN" dirty="0" err="1"/>
                        <a:t>Sayalkudi</a:t>
                      </a:r>
                      <a:endParaRPr lang="en-IN" dirty="0"/>
                    </a:p>
                  </a:txBody>
                  <a:tcPr/>
                </a:tc>
                <a:tc>
                  <a:txBody>
                    <a:bodyPr/>
                    <a:lstStyle/>
                    <a:p>
                      <a:r>
                        <a:rPr lang="en-IN" dirty="0"/>
                        <a:t>~3-6 m</a:t>
                      </a:r>
                    </a:p>
                  </a:txBody>
                  <a:tcPr/>
                </a:tc>
                <a:extLst>
                  <a:ext uri="{0D108BD9-81ED-4DB2-BD59-A6C34878D82A}">
                    <a16:rowId xmlns:a16="http://schemas.microsoft.com/office/drawing/2014/main" val="3255325239"/>
                  </a:ext>
                </a:extLst>
              </a:tr>
              <a:tr h="370840">
                <a:tc>
                  <a:txBody>
                    <a:bodyPr/>
                    <a:lstStyle/>
                    <a:p>
                      <a:r>
                        <a:rPr lang="en-IN" dirty="0" err="1"/>
                        <a:t>Ervadi</a:t>
                      </a:r>
                      <a:endParaRPr lang="en-IN" dirty="0"/>
                    </a:p>
                  </a:txBody>
                  <a:tcPr/>
                </a:tc>
                <a:tc>
                  <a:txBody>
                    <a:bodyPr/>
                    <a:lstStyle/>
                    <a:p>
                      <a:r>
                        <a:rPr lang="en-IN" dirty="0"/>
                        <a:t>~2-5 m</a:t>
                      </a:r>
                    </a:p>
                  </a:txBody>
                  <a:tcPr/>
                </a:tc>
                <a:extLst>
                  <a:ext uri="{0D108BD9-81ED-4DB2-BD59-A6C34878D82A}">
                    <a16:rowId xmlns:a16="http://schemas.microsoft.com/office/drawing/2014/main" val="1701044285"/>
                  </a:ext>
                </a:extLst>
              </a:tr>
            </a:tbl>
          </a:graphicData>
        </a:graphic>
      </p:graphicFrame>
      <p:sp>
        <p:nvSpPr>
          <p:cNvPr id="12" name="TextBox 11">
            <a:extLst>
              <a:ext uri="{FF2B5EF4-FFF2-40B4-BE49-F238E27FC236}">
                <a16:creationId xmlns:a16="http://schemas.microsoft.com/office/drawing/2014/main" id="{3ACDA1C4-2430-C5ED-F769-42F18BF6AF6B}"/>
              </a:ext>
            </a:extLst>
          </p:cNvPr>
          <p:cNvSpPr txBox="1"/>
          <p:nvPr/>
        </p:nvSpPr>
        <p:spPr>
          <a:xfrm>
            <a:off x="557784" y="6242724"/>
            <a:ext cx="3474720" cy="369332"/>
          </a:xfrm>
          <a:prstGeom prst="rect">
            <a:avLst/>
          </a:prstGeom>
          <a:noFill/>
        </p:spPr>
        <p:txBody>
          <a:bodyPr wrap="square">
            <a:spAutoFit/>
          </a:bodyPr>
          <a:lstStyle/>
          <a:p>
            <a:r>
              <a:rPr lang="en-IN" b="1" dirty="0">
                <a:solidFill>
                  <a:schemeClr val="bg1"/>
                </a:solidFill>
              </a:rPr>
              <a:t>Processing time:</a:t>
            </a:r>
            <a:r>
              <a:rPr lang="en-IN" dirty="0">
                <a:solidFill>
                  <a:schemeClr val="bg1"/>
                </a:solidFill>
              </a:rPr>
              <a:t> ~25 sec</a:t>
            </a:r>
          </a:p>
        </p:txBody>
      </p:sp>
      <p:sp>
        <p:nvSpPr>
          <p:cNvPr id="2" name="TextBox 1">
            <a:extLst>
              <a:ext uri="{FF2B5EF4-FFF2-40B4-BE49-F238E27FC236}">
                <a16:creationId xmlns:a16="http://schemas.microsoft.com/office/drawing/2014/main" id="{29346593-6735-0488-2A87-8B79AA0EDA90}"/>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1369950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9C8A4B9-185B-93AD-219F-20FFE9C52AAE}"/>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74DD3310-14BC-6CE9-CF86-FCCA4D2FB1C2}"/>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08F9DD90-5C07-42A5-E429-17833D7D86C8}"/>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D1DC1EE8-1FD3-B84B-B2E1-EFA668B9A674}"/>
              </a:ext>
            </a:extLst>
          </p:cNvPr>
          <p:cNvSpPr txBox="1">
            <a:spLocks/>
          </p:cNvSpPr>
          <p:nvPr/>
        </p:nvSpPr>
        <p:spPr>
          <a:xfrm>
            <a:off x="720627" y="367376"/>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Validation - Automated vs Manual</a:t>
            </a:r>
          </a:p>
        </p:txBody>
      </p:sp>
      <p:sp>
        <p:nvSpPr>
          <p:cNvPr id="14" name="Content Placeholder 2">
            <a:extLst>
              <a:ext uri="{FF2B5EF4-FFF2-40B4-BE49-F238E27FC236}">
                <a16:creationId xmlns:a16="http://schemas.microsoft.com/office/drawing/2014/main" id="{98748325-1BAC-F00C-0FAA-BA5E2D15352A}"/>
              </a:ext>
            </a:extLst>
          </p:cNvPr>
          <p:cNvSpPr txBox="1">
            <a:spLocks/>
          </p:cNvSpPr>
          <p:nvPr/>
        </p:nvSpPr>
        <p:spPr>
          <a:xfrm>
            <a:off x="1374424" y="1484312"/>
            <a:ext cx="4413728" cy="22800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solidFill>
                  <a:schemeClr val="bg1"/>
                </a:solidFill>
              </a:rPr>
              <a:t>Approach</a:t>
            </a:r>
          </a:p>
          <a:p>
            <a:pPr marL="342900" indent="-342900" algn="l">
              <a:buFont typeface="Arial" panose="020B0604020202020204" pitchFamily="34" charset="0"/>
              <a:buChar char="•"/>
            </a:pPr>
            <a:r>
              <a:rPr lang="en-US" dirty="0">
                <a:solidFill>
                  <a:schemeClr val="bg1"/>
                </a:solidFill>
              </a:rPr>
              <a:t>Manually extracted shorelines in QGIS for all 3 months</a:t>
            </a:r>
          </a:p>
          <a:p>
            <a:pPr marL="342900" indent="-342900" algn="l">
              <a:buFont typeface="Arial" panose="020B0604020202020204" pitchFamily="34" charset="0"/>
              <a:buChar char="•"/>
            </a:pPr>
            <a:r>
              <a:rPr lang="en-US" dirty="0">
                <a:solidFill>
                  <a:schemeClr val="bg1"/>
                </a:solidFill>
              </a:rPr>
              <a:t>Used same NDWI </a:t>
            </a:r>
            <a:r>
              <a:rPr lang="en-US" dirty="0" err="1">
                <a:solidFill>
                  <a:schemeClr val="bg1"/>
                </a:solidFill>
              </a:rPr>
              <a:t>rasters</a:t>
            </a:r>
            <a:r>
              <a:rPr lang="en-US" dirty="0">
                <a:solidFill>
                  <a:schemeClr val="bg1"/>
                </a:solidFill>
              </a:rPr>
              <a:t> as input</a:t>
            </a:r>
          </a:p>
          <a:p>
            <a:pPr marL="342900" indent="-342900" algn="l">
              <a:buFont typeface="Arial" panose="020B0604020202020204" pitchFamily="34" charset="0"/>
              <a:buChar char="•"/>
            </a:pPr>
            <a:r>
              <a:rPr lang="en-US" dirty="0">
                <a:solidFill>
                  <a:schemeClr val="bg1"/>
                </a:solidFill>
              </a:rPr>
              <a:t>Compared positional accuracy at 4 beach reference points</a:t>
            </a:r>
          </a:p>
          <a:p>
            <a:pPr marL="342900" indent="-342900" algn="l">
              <a:buFont typeface="Arial" panose="020B0604020202020204" pitchFamily="34" charset="0"/>
              <a:buChar char="•"/>
            </a:pPr>
            <a:r>
              <a:rPr lang="en-US" dirty="0">
                <a:solidFill>
                  <a:schemeClr val="bg1"/>
                </a:solidFill>
              </a:rPr>
              <a:t>Transect-based distance measurement</a:t>
            </a:r>
          </a:p>
        </p:txBody>
      </p:sp>
      <p:sp>
        <p:nvSpPr>
          <p:cNvPr id="15" name="Content Placeholder 2">
            <a:extLst>
              <a:ext uri="{FF2B5EF4-FFF2-40B4-BE49-F238E27FC236}">
                <a16:creationId xmlns:a16="http://schemas.microsoft.com/office/drawing/2014/main" id="{532B4FD2-C582-3B3A-6439-5A044231BE51}"/>
              </a:ext>
            </a:extLst>
          </p:cNvPr>
          <p:cNvSpPr txBox="1">
            <a:spLocks/>
          </p:cNvSpPr>
          <p:nvPr/>
        </p:nvSpPr>
        <p:spPr>
          <a:xfrm>
            <a:off x="6403850" y="1484312"/>
            <a:ext cx="4413727" cy="32706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solidFill>
                  <a:schemeClr val="bg1"/>
                </a:solidFill>
              </a:rPr>
              <a:t>Findings</a:t>
            </a:r>
          </a:p>
          <a:p>
            <a:pPr marL="342900" indent="-342900" algn="l">
              <a:buFont typeface="Arial" panose="020B0604020202020204" pitchFamily="34" charset="0"/>
              <a:buChar char="•"/>
            </a:pPr>
            <a:r>
              <a:rPr lang="en-US" dirty="0">
                <a:solidFill>
                  <a:schemeClr val="bg1"/>
                </a:solidFill>
              </a:rPr>
              <a:t>Automated pipeline consistent with manual extraction</a:t>
            </a:r>
          </a:p>
          <a:p>
            <a:pPr marL="342900" indent="-342900" algn="l">
              <a:buFont typeface="Arial" panose="020B0604020202020204" pitchFamily="34" charset="0"/>
              <a:buChar char="•"/>
            </a:pPr>
            <a:r>
              <a:rPr lang="en-US" dirty="0">
                <a:solidFill>
                  <a:schemeClr val="bg1"/>
                </a:solidFill>
              </a:rPr>
              <a:t>Positional difference: within 1-2 pixels (30-60m) - acceptable at 30m resolution</a:t>
            </a:r>
          </a:p>
          <a:p>
            <a:pPr marL="342900" indent="-342900" algn="l">
              <a:buFont typeface="Arial" panose="020B0604020202020204" pitchFamily="34" charset="0"/>
              <a:buChar char="•"/>
            </a:pPr>
            <a:r>
              <a:rPr lang="en-US" dirty="0">
                <a:solidFill>
                  <a:schemeClr val="bg1"/>
                </a:solidFill>
              </a:rPr>
              <a:t>Same seasonal trend observed in both methods</a:t>
            </a:r>
          </a:p>
          <a:p>
            <a:pPr marL="342900" indent="-342900" algn="l">
              <a:buFont typeface="Arial" panose="020B0604020202020204" pitchFamily="34" charset="0"/>
              <a:buChar char="•"/>
            </a:pPr>
            <a:r>
              <a:rPr lang="en-US" dirty="0">
                <a:solidFill>
                  <a:schemeClr val="bg1"/>
                </a:solidFill>
              </a:rPr>
              <a:t>Confirms pipeline reliability for regional-scale monitoring</a:t>
            </a:r>
          </a:p>
        </p:txBody>
      </p:sp>
      <p:sp>
        <p:nvSpPr>
          <p:cNvPr id="3" name="TextBox 2">
            <a:extLst>
              <a:ext uri="{FF2B5EF4-FFF2-40B4-BE49-F238E27FC236}">
                <a16:creationId xmlns:a16="http://schemas.microsoft.com/office/drawing/2014/main" id="{D24DE752-05C2-38DB-40E2-44AF84BB118F}"/>
              </a:ext>
            </a:extLst>
          </p:cNvPr>
          <p:cNvSpPr txBox="1"/>
          <p:nvPr/>
        </p:nvSpPr>
        <p:spPr>
          <a:xfrm>
            <a:off x="368232" y="5742218"/>
            <a:ext cx="11455536" cy="369332"/>
          </a:xfrm>
          <a:prstGeom prst="rect">
            <a:avLst/>
          </a:prstGeom>
          <a:noFill/>
        </p:spPr>
        <p:txBody>
          <a:bodyPr wrap="square">
            <a:spAutoFit/>
          </a:bodyPr>
          <a:lstStyle/>
          <a:p>
            <a:pPr algn="ctr"/>
            <a:r>
              <a:rPr lang="en-US" b="1" i="1" dirty="0">
                <a:solidFill>
                  <a:srgbClr val="FFFF00"/>
                </a:solidFill>
              </a:rPr>
              <a:t>Manual QGIS extraction served as ground truth - automated results matched consistently</a:t>
            </a:r>
            <a:endParaRPr lang="en-IN" b="1" i="1" dirty="0">
              <a:solidFill>
                <a:srgbClr val="FFFF00"/>
              </a:solidFill>
            </a:endParaRPr>
          </a:p>
        </p:txBody>
      </p:sp>
      <p:sp>
        <p:nvSpPr>
          <p:cNvPr id="2" name="TextBox 1">
            <a:extLst>
              <a:ext uri="{FF2B5EF4-FFF2-40B4-BE49-F238E27FC236}">
                <a16:creationId xmlns:a16="http://schemas.microsoft.com/office/drawing/2014/main" id="{C36D615C-2DF4-ADD0-16C4-A91D8EFCC77C}"/>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224363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5" grpId="0" build="p"/>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1D247C53-3511-350D-9A25-CE75BA87A58D}"/>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784CB77F-0C05-2645-2CE9-46CD74167071}"/>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D0E530ED-5BFE-0845-483B-61A3E207E802}"/>
              </a:ext>
            </a:extLst>
          </p:cNvPr>
          <p:cNvSpPr txBox="1"/>
          <p:nvPr/>
        </p:nvSpPr>
        <p:spPr>
          <a:xfrm>
            <a:off x="10668000" y="61115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86AC524A-C81D-93C4-ABE2-B1D8D8BF7BB9}"/>
              </a:ext>
            </a:extLst>
          </p:cNvPr>
          <p:cNvSpPr txBox="1">
            <a:spLocks/>
          </p:cNvSpPr>
          <p:nvPr/>
        </p:nvSpPr>
        <p:spPr>
          <a:xfrm>
            <a:off x="720627" y="367376"/>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Limitations &amp; Current Gaps</a:t>
            </a:r>
          </a:p>
        </p:txBody>
      </p:sp>
      <p:sp>
        <p:nvSpPr>
          <p:cNvPr id="15" name="Content Placeholder 2">
            <a:extLst>
              <a:ext uri="{FF2B5EF4-FFF2-40B4-BE49-F238E27FC236}">
                <a16:creationId xmlns:a16="http://schemas.microsoft.com/office/drawing/2014/main" id="{BBF1B6F4-B64E-D4C6-5E8D-9B6270DA6AD0}"/>
              </a:ext>
            </a:extLst>
          </p:cNvPr>
          <p:cNvSpPr txBox="1">
            <a:spLocks/>
          </p:cNvSpPr>
          <p:nvPr/>
        </p:nvSpPr>
        <p:spPr>
          <a:xfrm>
            <a:off x="871327" y="1448130"/>
            <a:ext cx="10250649" cy="39247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dirty="0">
                <a:solidFill>
                  <a:schemeClr val="bg1"/>
                </a:solidFill>
              </a:rPr>
              <a:t>⚠️ </a:t>
            </a:r>
            <a:r>
              <a:rPr lang="en-IN" b="1" dirty="0">
                <a:solidFill>
                  <a:schemeClr val="bg1"/>
                </a:solidFill>
              </a:rPr>
              <a:t>Tidal normalisation not fully implemented </a:t>
            </a:r>
            <a:r>
              <a:rPr lang="en-IN" dirty="0">
                <a:solidFill>
                  <a:schemeClr val="bg1"/>
                </a:solidFill>
              </a:rPr>
              <a:t>- HTL/LTL data available but shoreline not corrected to a standard tidal datum</a:t>
            </a:r>
          </a:p>
          <a:p>
            <a:pPr algn="l"/>
            <a:r>
              <a:rPr lang="en-IN" dirty="0">
                <a:solidFill>
                  <a:schemeClr val="bg1"/>
                </a:solidFill>
              </a:rPr>
              <a:t>⚠️ </a:t>
            </a:r>
            <a:r>
              <a:rPr lang="en-IN" b="1" dirty="0">
                <a:solidFill>
                  <a:schemeClr val="bg1"/>
                </a:solidFill>
              </a:rPr>
              <a:t>Only 3 of 9 months usable </a:t>
            </a:r>
            <a:r>
              <a:rPr lang="en-IN" dirty="0">
                <a:solidFill>
                  <a:schemeClr val="bg1"/>
                </a:solidFill>
              </a:rPr>
              <a:t>- cloud cover eliminated Jun, Jul, Dec–Mar scenes</a:t>
            </a:r>
          </a:p>
          <a:p>
            <a:pPr algn="l"/>
            <a:r>
              <a:rPr lang="en-IN" dirty="0">
                <a:solidFill>
                  <a:schemeClr val="bg1"/>
                </a:solidFill>
              </a:rPr>
              <a:t>⚠️ </a:t>
            </a:r>
            <a:r>
              <a:rPr lang="en-IN" b="1" dirty="0">
                <a:solidFill>
                  <a:schemeClr val="bg1"/>
                </a:solidFill>
              </a:rPr>
              <a:t>30m resolution </a:t>
            </a:r>
            <a:r>
              <a:rPr lang="en-IN" dirty="0">
                <a:solidFill>
                  <a:schemeClr val="bg1"/>
                </a:solidFill>
              </a:rPr>
              <a:t>- sub-pixel shoreline shifts (~10–30m range) cannot be reliably detected</a:t>
            </a:r>
          </a:p>
          <a:p>
            <a:pPr algn="l"/>
            <a:r>
              <a:rPr lang="en-IN" dirty="0">
                <a:solidFill>
                  <a:schemeClr val="bg1"/>
                </a:solidFill>
              </a:rPr>
              <a:t>⚠️ </a:t>
            </a:r>
            <a:r>
              <a:rPr lang="en-IN" b="1" dirty="0">
                <a:solidFill>
                  <a:schemeClr val="bg1"/>
                </a:solidFill>
              </a:rPr>
              <a:t>Beach profile validation limited - </a:t>
            </a:r>
            <a:r>
              <a:rPr lang="en-IN" dirty="0">
                <a:solidFill>
                  <a:schemeClr val="bg1"/>
                </a:solidFill>
              </a:rPr>
              <a:t>single-date profile used, full cross-validation not performed</a:t>
            </a:r>
          </a:p>
          <a:p>
            <a:pPr algn="l"/>
            <a:r>
              <a:rPr lang="en-IN" dirty="0">
                <a:solidFill>
                  <a:schemeClr val="bg1"/>
                </a:solidFill>
              </a:rPr>
              <a:t>⚠️ </a:t>
            </a:r>
            <a:r>
              <a:rPr lang="en-IN" b="1" dirty="0">
                <a:solidFill>
                  <a:schemeClr val="bg1"/>
                </a:solidFill>
              </a:rPr>
              <a:t>No storm/surge event filtering -</a:t>
            </a:r>
            <a:r>
              <a:rPr lang="en-IN" dirty="0">
                <a:solidFill>
                  <a:schemeClr val="bg1"/>
                </a:solidFill>
              </a:rPr>
              <a:t> anomalous shoreline positions not flagged automatically</a:t>
            </a:r>
            <a:endParaRPr lang="en-US" dirty="0">
              <a:solidFill>
                <a:schemeClr val="bg1"/>
              </a:solidFill>
            </a:endParaRPr>
          </a:p>
        </p:txBody>
      </p:sp>
      <p:sp>
        <p:nvSpPr>
          <p:cNvPr id="3" name="TextBox 2">
            <a:extLst>
              <a:ext uri="{FF2B5EF4-FFF2-40B4-BE49-F238E27FC236}">
                <a16:creationId xmlns:a16="http://schemas.microsoft.com/office/drawing/2014/main" id="{E1C7FC7A-DB2C-4E37-8547-10064F0CB85C}"/>
              </a:ext>
            </a:extLst>
          </p:cNvPr>
          <p:cNvSpPr txBox="1"/>
          <p:nvPr/>
        </p:nvSpPr>
        <p:spPr>
          <a:xfrm>
            <a:off x="368232" y="5742218"/>
            <a:ext cx="11455536" cy="369332"/>
          </a:xfrm>
          <a:prstGeom prst="rect">
            <a:avLst/>
          </a:prstGeom>
          <a:noFill/>
        </p:spPr>
        <p:txBody>
          <a:bodyPr wrap="square">
            <a:spAutoFit/>
          </a:bodyPr>
          <a:lstStyle/>
          <a:p>
            <a:pPr algn="ctr"/>
            <a:r>
              <a:rPr lang="en-US" b="1" i="1" dirty="0">
                <a:solidFill>
                  <a:srgbClr val="FFFF00"/>
                </a:solidFill>
              </a:rPr>
              <a:t>These limitations are acknowledged and form the basis for the future roadmap</a:t>
            </a:r>
            <a:endParaRPr lang="en-IN" b="1" i="1" dirty="0">
              <a:solidFill>
                <a:srgbClr val="FFFF00"/>
              </a:solidFill>
            </a:endParaRPr>
          </a:p>
        </p:txBody>
      </p:sp>
      <p:sp>
        <p:nvSpPr>
          <p:cNvPr id="2" name="TextBox 1">
            <a:extLst>
              <a:ext uri="{FF2B5EF4-FFF2-40B4-BE49-F238E27FC236}">
                <a16:creationId xmlns:a16="http://schemas.microsoft.com/office/drawing/2014/main" id="{76183D07-6488-2B3F-7475-0141DF31A34E}"/>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190919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CAEAD501-51A6-CDA8-75F0-BEB48AB96AB9}"/>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0A90EFB0-EF7C-CD61-C3AF-38207E8C0C11}"/>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DCCBFC26-C7C8-6BB4-5555-D1852D87BF39}"/>
              </a:ext>
            </a:extLst>
          </p:cNvPr>
          <p:cNvSpPr txBox="1"/>
          <p:nvPr/>
        </p:nvSpPr>
        <p:spPr>
          <a:xfrm>
            <a:off x="10640569" y="63293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5CBAB3DA-050D-E4BA-956E-953496E9CA5B}"/>
              </a:ext>
            </a:extLst>
          </p:cNvPr>
          <p:cNvSpPr txBox="1">
            <a:spLocks/>
          </p:cNvSpPr>
          <p:nvPr/>
        </p:nvSpPr>
        <p:spPr>
          <a:xfrm>
            <a:off x="720625" y="168995"/>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Future Roadmap</a:t>
            </a:r>
          </a:p>
        </p:txBody>
      </p:sp>
      <p:sp>
        <p:nvSpPr>
          <p:cNvPr id="15" name="Content Placeholder 2">
            <a:extLst>
              <a:ext uri="{FF2B5EF4-FFF2-40B4-BE49-F238E27FC236}">
                <a16:creationId xmlns:a16="http://schemas.microsoft.com/office/drawing/2014/main" id="{7083B1DE-F79C-85E1-0934-C02790BF1B8B}"/>
              </a:ext>
            </a:extLst>
          </p:cNvPr>
          <p:cNvSpPr txBox="1">
            <a:spLocks/>
          </p:cNvSpPr>
          <p:nvPr/>
        </p:nvSpPr>
        <p:spPr>
          <a:xfrm>
            <a:off x="871327" y="1115872"/>
            <a:ext cx="4624217" cy="15968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Near Term</a:t>
            </a:r>
          </a:p>
          <a:p>
            <a:pPr marL="342900" indent="-342900" algn="l">
              <a:buFont typeface="Arial" panose="020B0604020202020204" pitchFamily="34" charset="0"/>
              <a:buChar char="•"/>
            </a:pPr>
            <a:r>
              <a:rPr lang="en-US" sz="1800" dirty="0">
                <a:solidFill>
                  <a:schemeClr val="bg1"/>
                </a:solidFill>
              </a:rPr>
              <a:t>Full tidal correction using HTL/LTL</a:t>
            </a:r>
          </a:p>
          <a:p>
            <a:pPr marL="342900" indent="-342900" algn="l">
              <a:buFont typeface="Arial" panose="020B0604020202020204" pitchFamily="34" charset="0"/>
              <a:buChar char="•"/>
            </a:pPr>
            <a:r>
              <a:rPr lang="en-US" sz="1800" dirty="0">
                <a:solidFill>
                  <a:schemeClr val="bg1"/>
                </a:solidFill>
              </a:rPr>
              <a:t>Expand to all 9 months with high resolution</a:t>
            </a:r>
          </a:p>
          <a:p>
            <a:pPr marL="342900" indent="-342900" algn="l">
              <a:buFont typeface="Arial" panose="020B0604020202020204" pitchFamily="34" charset="0"/>
              <a:buChar char="•"/>
            </a:pPr>
            <a:r>
              <a:rPr lang="en-US" sz="1800" dirty="0">
                <a:solidFill>
                  <a:schemeClr val="bg1"/>
                </a:solidFill>
              </a:rPr>
              <a:t>Automated cloud masking</a:t>
            </a:r>
          </a:p>
        </p:txBody>
      </p:sp>
      <p:sp>
        <p:nvSpPr>
          <p:cNvPr id="3" name="TextBox 2">
            <a:extLst>
              <a:ext uri="{FF2B5EF4-FFF2-40B4-BE49-F238E27FC236}">
                <a16:creationId xmlns:a16="http://schemas.microsoft.com/office/drawing/2014/main" id="{C67A506F-1B79-6C58-25A7-E16B839943D0}"/>
              </a:ext>
            </a:extLst>
          </p:cNvPr>
          <p:cNvSpPr txBox="1"/>
          <p:nvPr/>
        </p:nvSpPr>
        <p:spPr>
          <a:xfrm>
            <a:off x="368232" y="5013296"/>
            <a:ext cx="11455536" cy="1477328"/>
          </a:xfrm>
          <a:prstGeom prst="rect">
            <a:avLst/>
          </a:prstGeom>
          <a:noFill/>
        </p:spPr>
        <p:txBody>
          <a:bodyPr wrap="square">
            <a:spAutoFit/>
          </a:bodyPr>
          <a:lstStyle/>
          <a:p>
            <a:r>
              <a:rPr lang="en-US" b="1" i="1" dirty="0">
                <a:solidFill>
                  <a:srgbClr val="FFFF00"/>
                </a:solidFill>
              </a:rPr>
              <a:t>Integration Opportunities at CDAC</a:t>
            </a:r>
          </a:p>
          <a:p>
            <a:r>
              <a:rPr lang="en-IN" b="1" i="1" dirty="0">
                <a:solidFill>
                  <a:srgbClr val="FFFF00"/>
                </a:solidFill>
              </a:rPr>
              <a:t>🌊 C-Flood Portal - CDAC's flood simulation platform for Mahanadi Delta uses tidal inputs; shoreline detection can be integrated as a direct module</a:t>
            </a:r>
          </a:p>
          <a:p>
            <a:r>
              <a:rPr lang="en-IN" b="1" i="1" dirty="0">
                <a:solidFill>
                  <a:srgbClr val="FFFF00"/>
                </a:solidFill>
              </a:rPr>
              <a:t>🌏 EU Ganana Project - Under the Natural Hazards work package, tsunami simulation work can leverage dynamic shoreline data for improved coastal boundary conditions</a:t>
            </a:r>
          </a:p>
        </p:txBody>
      </p:sp>
      <p:sp>
        <p:nvSpPr>
          <p:cNvPr id="5" name="Content Placeholder 2">
            <a:extLst>
              <a:ext uri="{FF2B5EF4-FFF2-40B4-BE49-F238E27FC236}">
                <a16:creationId xmlns:a16="http://schemas.microsoft.com/office/drawing/2014/main" id="{6F48A5C7-8359-E2DE-1FE9-0655F1B3BC93}"/>
              </a:ext>
            </a:extLst>
          </p:cNvPr>
          <p:cNvSpPr txBox="1">
            <a:spLocks/>
          </p:cNvSpPr>
          <p:nvPr/>
        </p:nvSpPr>
        <p:spPr>
          <a:xfrm>
            <a:off x="6519271" y="1065286"/>
            <a:ext cx="4624217" cy="15968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Medium Term</a:t>
            </a:r>
          </a:p>
          <a:p>
            <a:pPr marL="285750" indent="-285750" algn="l">
              <a:buFont typeface="Arial" panose="020B0604020202020204" pitchFamily="34" charset="0"/>
              <a:buChar char="•"/>
            </a:pPr>
            <a:r>
              <a:rPr lang="en-US" sz="1800" dirty="0">
                <a:solidFill>
                  <a:schemeClr val="bg1"/>
                </a:solidFill>
              </a:rPr>
              <a:t>ML-based shoreline refinement</a:t>
            </a:r>
          </a:p>
          <a:p>
            <a:pPr marL="285750" indent="-285750" algn="l">
              <a:buFont typeface="Arial" panose="020B0604020202020204" pitchFamily="34" charset="0"/>
              <a:buChar char="•"/>
            </a:pPr>
            <a:r>
              <a:rPr lang="en-US" sz="1800" dirty="0">
                <a:solidFill>
                  <a:schemeClr val="bg1"/>
                </a:solidFill>
              </a:rPr>
              <a:t>Sub-pixel accuracy improvement</a:t>
            </a:r>
          </a:p>
          <a:p>
            <a:pPr marL="285750" indent="-285750" algn="l">
              <a:buFont typeface="Arial" panose="020B0604020202020204" pitchFamily="34" charset="0"/>
              <a:buChar char="•"/>
            </a:pPr>
            <a:r>
              <a:rPr lang="en-US" sz="1800" dirty="0">
                <a:solidFill>
                  <a:schemeClr val="bg1"/>
                </a:solidFill>
              </a:rPr>
              <a:t>Integration with beach profile data for 3D validation</a:t>
            </a:r>
          </a:p>
        </p:txBody>
      </p:sp>
      <p:sp>
        <p:nvSpPr>
          <p:cNvPr id="6" name="Content Placeholder 2">
            <a:extLst>
              <a:ext uri="{FF2B5EF4-FFF2-40B4-BE49-F238E27FC236}">
                <a16:creationId xmlns:a16="http://schemas.microsoft.com/office/drawing/2014/main" id="{9D0AB130-C911-CDF3-07CD-2D0A15D094C0}"/>
              </a:ext>
            </a:extLst>
          </p:cNvPr>
          <p:cNvSpPr txBox="1">
            <a:spLocks/>
          </p:cNvSpPr>
          <p:nvPr/>
        </p:nvSpPr>
        <p:spPr>
          <a:xfrm>
            <a:off x="3960088" y="2809000"/>
            <a:ext cx="4624217" cy="19231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800" dirty="0">
                <a:solidFill>
                  <a:schemeClr val="bg1"/>
                </a:solidFill>
              </a:rPr>
              <a:t>Long Term</a:t>
            </a:r>
          </a:p>
          <a:p>
            <a:pPr marL="285750" indent="-285750" algn="l">
              <a:buFont typeface="Arial" panose="020B0604020202020204" pitchFamily="34" charset="0"/>
              <a:buChar char="•"/>
            </a:pPr>
            <a:r>
              <a:rPr lang="en-US" sz="1800" dirty="0">
                <a:solidFill>
                  <a:schemeClr val="bg1"/>
                </a:solidFill>
              </a:rPr>
              <a:t>HPC deployment for national-scale monitoring</a:t>
            </a:r>
          </a:p>
          <a:p>
            <a:pPr marL="285750" indent="-285750" algn="l">
              <a:buFont typeface="Arial" panose="020B0604020202020204" pitchFamily="34" charset="0"/>
              <a:buChar char="•"/>
            </a:pPr>
            <a:r>
              <a:rPr lang="en-US" sz="1800" dirty="0">
                <a:solidFill>
                  <a:schemeClr val="bg1"/>
                </a:solidFill>
              </a:rPr>
              <a:t>Real-time alert system for erosion hotspots</a:t>
            </a:r>
          </a:p>
          <a:p>
            <a:pPr marL="285750" indent="-285750" algn="l">
              <a:buFont typeface="Arial" panose="020B0604020202020204" pitchFamily="34" charset="0"/>
              <a:buChar char="•"/>
            </a:pPr>
            <a:r>
              <a:rPr lang="en-US" sz="1800" dirty="0">
                <a:solidFill>
                  <a:schemeClr val="bg1"/>
                </a:solidFill>
              </a:rPr>
              <a:t>Integration with coastal management dashboards</a:t>
            </a:r>
          </a:p>
        </p:txBody>
      </p:sp>
      <p:sp>
        <p:nvSpPr>
          <p:cNvPr id="2" name="TextBox 1">
            <a:extLst>
              <a:ext uri="{FF2B5EF4-FFF2-40B4-BE49-F238E27FC236}">
                <a16:creationId xmlns:a16="http://schemas.microsoft.com/office/drawing/2014/main" id="{CF530F4C-23DC-8479-DD03-8E070A9C72A2}"/>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194898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3" grpId="0" build="p"/>
      <p:bldP spid="5" grpId="0" build="p"/>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82C656EF-E06D-86CA-8F3E-3FCC5C8FA13B}"/>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F6D276B4-6505-D2F3-5637-ECE466DF420E}"/>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1185700D-5997-97C0-775D-D3BF0AC36BFC}"/>
              </a:ext>
            </a:extLst>
          </p:cNvPr>
          <p:cNvSpPr txBox="1"/>
          <p:nvPr/>
        </p:nvSpPr>
        <p:spPr>
          <a:xfrm>
            <a:off x="10640569" y="63293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260B19DF-CAD1-9ED1-E5FC-FFE591AC0BCE}"/>
              </a:ext>
            </a:extLst>
          </p:cNvPr>
          <p:cNvSpPr txBox="1">
            <a:spLocks/>
          </p:cNvSpPr>
          <p:nvPr/>
        </p:nvSpPr>
        <p:spPr>
          <a:xfrm>
            <a:off x="720625" y="168995"/>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Conclusion</a:t>
            </a:r>
          </a:p>
        </p:txBody>
      </p:sp>
      <p:sp>
        <p:nvSpPr>
          <p:cNvPr id="3" name="TextBox 2">
            <a:extLst>
              <a:ext uri="{FF2B5EF4-FFF2-40B4-BE49-F238E27FC236}">
                <a16:creationId xmlns:a16="http://schemas.microsoft.com/office/drawing/2014/main" id="{F410AB70-939B-A7D9-C795-562B8CB5CA2D}"/>
              </a:ext>
            </a:extLst>
          </p:cNvPr>
          <p:cNvSpPr txBox="1"/>
          <p:nvPr/>
        </p:nvSpPr>
        <p:spPr>
          <a:xfrm>
            <a:off x="368230" y="4828630"/>
            <a:ext cx="11455536" cy="369332"/>
          </a:xfrm>
          <a:prstGeom prst="rect">
            <a:avLst/>
          </a:prstGeom>
          <a:noFill/>
        </p:spPr>
        <p:txBody>
          <a:bodyPr wrap="square">
            <a:spAutoFit/>
          </a:bodyPr>
          <a:lstStyle/>
          <a:p>
            <a:pPr algn="ctr"/>
            <a:r>
              <a:rPr lang="en-US" b="1" i="1" dirty="0">
                <a:solidFill>
                  <a:srgbClr val="FFFF00"/>
                </a:solidFill>
              </a:rPr>
              <a:t>A working, validated POC — ready to grow into operational coastal monitoring</a:t>
            </a:r>
            <a:endParaRPr lang="en-IN" b="1" i="1" dirty="0">
              <a:solidFill>
                <a:srgbClr val="FFFF00"/>
              </a:solidFill>
            </a:endParaRPr>
          </a:p>
        </p:txBody>
      </p:sp>
      <p:sp>
        <p:nvSpPr>
          <p:cNvPr id="2" name="Content Placeholder 2">
            <a:extLst>
              <a:ext uri="{FF2B5EF4-FFF2-40B4-BE49-F238E27FC236}">
                <a16:creationId xmlns:a16="http://schemas.microsoft.com/office/drawing/2014/main" id="{20A5FC8D-146D-8124-2268-83D5D304506E}"/>
              </a:ext>
            </a:extLst>
          </p:cNvPr>
          <p:cNvSpPr txBox="1">
            <a:spLocks/>
          </p:cNvSpPr>
          <p:nvPr/>
        </p:nvSpPr>
        <p:spPr>
          <a:xfrm>
            <a:off x="368231" y="1459019"/>
            <a:ext cx="6864673" cy="281122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IN" sz="1800" dirty="0">
                <a:solidFill>
                  <a:schemeClr val="bg1"/>
                </a:solidFill>
              </a:rPr>
              <a:t>✅ Developed a fully automated, reproducible shoreline extraction pipeline</a:t>
            </a:r>
          </a:p>
          <a:p>
            <a:pPr algn="l">
              <a:lnSpc>
                <a:spcPct val="100000"/>
              </a:lnSpc>
            </a:pPr>
            <a:r>
              <a:rPr lang="en-IN" sz="1800" dirty="0">
                <a:solidFill>
                  <a:schemeClr val="bg1"/>
                </a:solidFill>
              </a:rPr>
              <a:t>✅ Validated across 3 temporal observations at 4 GPS reference locations</a:t>
            </a:r>
          </a:p>
          <a:p>
            <a:pPr algn="l">
              <a:lnSpc>
                <a:spcPct val="100000"/>
              </a:lnSpc>
            </a:pPr>
            <a:r>
              <a:rPr lang="en-IN" sz="1800" dirty="0">
                <a:solidFill>
                  <a:schemeClr val="bg1"/>
                </a:solidFill>
              </a:rPr>
              <a:t>✅ Detected meter-scale shoreline changes (max 10.69m at </a:t>
            </a:r>
            <a:r>
              <a:rPr lang="en-IN" sz="1800" dirty="0" err="1">
                <a:solidFill>
                  <a:schemeClr val="bg1"/>
                </a:solidFill>
              </a:rPr>
              <a:t>Keelvaipar</a:t>
            </a:r>
            <a:r>
              <a:rPr lang="en-IN" sz="1800" dirty="0">
                <a:solidFill>
                  <a:schemeClr val="bg1"/>
                </a:solidFill>
              </a:rPr>
              <a:t>)</a:t>
            </a:r>
          </a:p>
          <a:p>
            <a:pPr algn="l">
              <a:lnSpc>
                <a:spcPct val="100000"/>
              </a:lnSpc>
            </a:pPr>
            <a:r>
              <a:rPr lang="en-IN" sz="1800" dirty="0">
                <a:solidFill>
                  <a:schemeClr val="bg1"/>
                </a:solidFill>
              </a:rPr>
              <a:t>✅ Manual vs automated comparison confirms pipeline consistency</a:t>
            </a:r>
          </a:p>
          <a:p>
            <a:pPr algn="l">
              <a:lnSpc>
                <a:spcPct val="100000"/>
              </a:lnSpc>
            </a:pPr>
            <a:r>
              <a:rPr lang="en-IN" sz="1800" dirty="0">
                <a:solidFill>
                  <a:schemeClr val="bg1"/>
                </a:solidFill>
              </a:rPr>
              <a:t>✅ Processing time ~25 sec - scalable to national coverage</a:t>
            </a:r>
          </a:p>
          <a:p>
            <a:pPr algn="l">
              <a:lnSpc>
                <a:spcPct val="100000"/>
              </a:lnSpc>
            </a:pPr>
            <a:r>
              <a:rPr lang="en-IN" sz="1800" dirty="0">
                <a:solidFill>
                  <a:schemeClr val="bg1"/>
                </a:solidFill>
              </a:rPr>
              <a:t>✅ Built on open-source stack - freely deployable</a:t>
            </a:r>
            <a:endParaRPr lang="en-US" sz="1800" dirty="0">
              <a:solidFill>
                <a:schemeClr val="bg1"/>
              </a:solidFill>
            </a:endParaRPr>
          </a:p>
        </p:txBody>
      </p:sp>
      <p:pic>
        <p:nvPicPr>
          <p:cNvPr id="8" name="Picture 7">
            <a:extLst>
              <a:ext uri="{FF2B5EF4-FFF2-40B4-BE49-F238E27FC236}">
                <a16:creationId xmlns:a16="http://schemas.microsoft.com/office/drawing/2014/main" id="{E5F6B685-884F-5A40-25DA-05AF6A9799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12840" y="1291673"/>
            <a:ext cx="4556280" cy="3222006"/>
          </a:xfrm>
          <a:prstGeom prst="rect">
            <a:avLst/>
          </a:prstGeom>
        </p:spPr>
      </p:pic>
      <p:sp>
        <p:nvSpPr>
          <p:cNvPr id="5" name="TextBox 4">
            <a:extLst>
              <a:ext uri="{FF2B5EF4-FFF2-40B4-BE49-F238E27FC236}">
                <a16:creationId xmlns:a16="http://schemas.microsoft.com/office/drawing/2014/main" id="{8186FB0D-D509-8992-6D60-EE861B68B7AA}"/>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364052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a:extLst>
            <a:ext uri="{FF2B5EF4-FFF2-40B4-BE49-F238E27FC236}">
              <a16:creationId xmlns:a16="http://schemas.microsoft.com/office/drawing/2014/main" id="{25AB7E1A-B963-4B15-97F7-9B669D557B92}"/>
            </a:ext>
          </a:extLst>
        </p:cNvPr>
        <p:cNvGrpSpPr/>
        <p:nvPr/>
      </p:nvGrpSpPr>
      <p:grpSpPr>
        <a:xfrm>
          <a:off x="0" y="0"/>
          <a:ext cx="0" cy="0"/>
          <a:chOff x="0" y="0"/>
          <a:chExt cx="0" cy="0"/>
        </a:xfrm>
      </p:grpSpPr>
      <p:pic>
        <p:nvPicPr>
          <p:cNvPr id="4" name="Google Shape;106;p2" title="New C-DAC logo JPG.jpg">
            <a:extLst>
              <a:ext uri="{FF2B5EF4-FFF2-40B4-BE49-F238E27FC236}">
                <a16:creationId xmlns:a16="http://schemas.microsoft.com/office/drawing/2014/main" id="{76AFBA5B-967D-A2D3-ACAF-D5C6A5B5EB68}"/>
              </a:ext>
            </a:extLst>
          </p:cNvPr>
          <p:cNvPicPr preferRelativeResize="0"/>
          <p:nvPr/>
        </p:nvPicPr>
        <p:blipFill>
          <a:blip r:embed="rId3">
            <a:alphaModFix/>
          </a:blip>
          <a:stretch>
            <a:fillRect/>
          </a:stretch>
        </p:blipFill>
        <p:spPr>
          <a:xfrm>
            <a:off x="368231" y="265301"/>
            <a:ext cx="1006193" cy="711421"/>
          </a:xfrm>
          <a:prstGeom prst="rect">
            <a:avLst/>
          </a:prstGeom>
          <a:noFill/>
          <a:ln>
            <a:noFill/>
          </a:ln>
        </p:spPr>
      </p:pic>
      <p:sp>
        <p:nvSpPr>
          <p:cNvPr id="7" name="TextBox 6">
            <a:extLst>
              <a:ext uri="{FF2B5EF4-FFF2-40B4-BE49-F238E27FC236}">
                <a16:creationId xmlns:a16="http://schemas.microsoft.com/office/drawing/2014/main" id="{94B62A2D-CCA0-F6B2-616B-30ACA21BE2BB}"/>
              </a:ext>
            </a:extLst>
          </p:cNvPr>
          <p:cNvSpPr txBox="1"/>
          <p:nvPr/>
        </p:nvSpPr>
        <p:spPr>
          <a:xfrm>
            <a:off x="10640569" y="6329350"/>
            <a:ext cx="1551431" cy="369332"/>
          </a:xfrm>
          <a:prstGeom prst="rect">
            <a:avLst/>
          </a:prstGeom>
          <a:noFill/>
        </p:spPr>
        <p:txBody>
          <a:bodyPr wrap="square" rtlCol="0">
            <a:spAutoFit/>
          </a:bodyPr>
          <a:lstStyle/>
          <a:p>
            <a:r>
              <a:rPr lang="en-IN" dirty="0">
                <a:solidFill>
                  <a:schemeClr val="bg1"/>
                </a:solidFill>
              </a:rPr>
              <a:t>March 2026</a:t>
            </a:r>
          </a:p>
        </p:txBody>
      </p:sp>
      <p:sp>
        <p:nvSpPr>
          <p:cNvPr id="11" name="Title 1">
            <a:extLst>
              <a:ext uri="{FF2B5EF4-FFF2-40B4-BE49-F238E27FC236}">
                <a16:creationId xmlns:a16="http://schemas.microsoft.com/office/drawing/2014/main" id="{C67E9F7F-D941-A420-9CF5-396F94362DFC}"/>
              </a:ext>
            </a:extLst>
          </p:cNvPr>
          <p:cNvSpPr txBox="1">
            <a:spLocks/>
          </p:cNvSpPr>
          <p:nvPr/>
        </p:nvSpPr>
        <p:spPr>
          <a:xfrm>
            <a:off x="544426" y="2345267"/>
            <a:ext cx="11103141" cy="71142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solidFill>
                  <a:schemeClr val="bg1"/>
                </a:solidFill>
              </a:rPr>
              <a:t>Thank You</a:t>
            </a:r>
          </a:p>
        </p:txBody>
      </p:sp>
      <p:sp>
        <p:nvSpPr>
          <p:cNvPr id="3" name="TextBox 2">
            <a:extLst>
              <a:ext uri="{FF2B5EF4-FFF2-40B4-BE49-F238E27FC236}">
                <a16:creationId xmlns:a16="http://schemas.microsoft.com/office/drawing/2014/main" id="{AEB85414-D591-54FD-959F-2818587EF876}"/>
              </a:ext>
            </a:extLst>
          </p:cNvPr>
          <p:cNvSpPr txBox="1"/>
          <p:nvPr/>
        </p:nvSpPr>
        <p:spPr>
          <a:xfrm>
            <a:off x="368229" y="3429000"/>
            <a:ext cx="11455536" cy="369332"/>
          </a:xfrm>
          <a:prstGeom prst="rect">
            <a:avLst/>
          </a:prstGeom>
          <a:noFill/>
        </p:spPr>
        <p:txBody>
          <a:bodyPr wrap="square">
            <a:spAutoFit/>
          </a:bodyPr>
          <a:lstStyle/>
          <a:p>
            <a:pPr algn="ctr"/>
            <a:r>
              <a:rPr lang="en-US" b="1" dirty="0">
                <a:solidFill>
                  <a:srgbClr val="FFFF00"/>
                </a:solidFill>
              </a:rPr>
              <a:t>Anup Bagde &amp; Girishchandra Yendargaye | CDAC Pune | </a:t>
            </a:r>
            <a:r>
              <a:rPr lang="en-US" b="1" dirty="0" err="1">
                <a:solidFill>
                  <a:srgbClr val="FFFF00"/>
                </a:solidFill>
              </a:rPr>
              <a:t>Mapathon</a:t>
            </a:r>
            <a:r>
              <a:rPr lang="en-US" b="1" dirty="0">
                <a:solidFill>
                  <a:srgbClr val="FFFF00"/>
                </a:solidFill>
              </a:rPr>
              <a:t> 2025 | MPS051</a:t>
            </a:r>
            <a:endParaRPr lang="en-IN" b="1" dirty="0">
              <a:solidFill>
                <a:srgbClr val="FFFF00"/>
              </a:solidFill>
            </a:endParaRPr>
          </a:p>
        </p:txBody>
      </p:sp>
      <p:sp>
        <p:nvSpPr>
          <p:cNvPr id="2" name="TextBox 1">
            <a:extLst>
              <a:ext uri="{FF2B5EF4-FFF2-40B4-BE49-F238E27FC236}">
                <a16:creationId xmlns:a16="http://schemas.microsoft.com/office/drawing/2014/main" id="{6CAB304A-9AA0-8053-F6DE-61D1CDEC1A5B}"/>
              </a:ext>
            </a:extLst>
          </p:cNvPr>
          <p:cNvSpPr txBox="1"/>
          <p:nvPr/>
        </p:nvSpPr>
        <p:spPr>
          <a:xfrm>
            <a:off x="10975849" y="192452"/>
            <a:ext cx="1006194" cy="369332"/>
          </a:xfrm>
          <a:prstGeom prst="rect">
            <a:avLst/>
          </a:prstGeom>
          <a:noFill/>
        </p:spPr>
        <p:txBody>
          <a:bodyPr wrap="square" rtlCol="0">
            <a:spAutoFit/>
          </a:bodyPr>
          <a:lstStyle/>
          <a:p>
            <a:r>
              <a:rPr lang="en-IN" dirty="0">
                <a:solidFill>
                  <a:schemeClr val="bg1"/>
                </a:solidFill>
              </a:rPr>
              <a:t>MPS051</a:t>
            </a:r>
          </a:p>
        </p:txBody>
      </p:sp>
    </p:spTree>
    <p:extLst>
      <p:ext uri="{BB962C8B-B14F-4D97-AF65-F5344CB8AC3E}">
        <p14:creationId xmlns:p14="http://schemas.microsoft.com/office/powerpoint/2010/main" val="201678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380</TotalTime>
  <Words>3520</Words>
  <Application>Microsoft Office PowerPoint</Application>
  <PresentationFormat>Widescreen</PresentationFormat>
  <Paragraphs>346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Automated Shoreline Extraction &amp; Temporal Change Analysis</vt:lpstr>
      <vt:lpstr>Problem Statement &amp;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 Bagde</dc:creator>
  <cp:lastModifiedBy>Anup Bagde</cp:lastModifiedBy>
  <cp:revision>45</cp:revision>
  <dcterms:created xsi:type="dcterms:W3CDTF">2026-03-10T08:40:07Z</dcterms:created>
  <dcterms:modified xsi:type="dcterms:W3CDTF">2026-03-11T12:05:00Z</dcterms:modified>
</cp:coreProperties>
</file>